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8" r:id="rId3"/>
    <p:sldId id="259" r:id="rId4"/>
    <p:sldId id="306" r:id="rId5"/>
    <p:sldId id="261" r:id="rId6"/>
    <p:sldId id="298" r:id="rId7"/>
    <p:sldId id="299" r:id="rId8"/>
    <p:sldId id="307" r:id="rId9"/>
    <p:sldId id="300" r:id="rId10"/>
    <p:sldId id="301" r:id="rId11"/>
    <p:sldId id="302" r:id="rId12"/>
    <p:sldId id="304"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100" d="100"/>
          <a:sy n="100" d="100"/>
        </p:scale>
        <p:origin x="883" y="52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F89D0B81-B455-D87F-9072-FDAC7078D729}"/>
            </a:ext>
          </a:extLst>
        </p:cNvPr>
        <p:cNvGrpSpPr/>
        <p:nvPr/>
      </p:nvGrpSpPr>
      <p:grpSpPr>
        <a:xfrm>
          <a:off x="0" y="0"/>
          <a:ext cx="0" cy="0"/>
          <a:chOff x="0" y="0"/>
          <a:chExt cx="0" cy="0"/>
        </a:xfrm>
      </p:grpSpPr>
      <p:sp>
        <p:nvSpPr>
          <p:cNvPr id="79" name="Google Shape;79;p4:notes">
            <a:extLst>
              <a:ext uri="{FF2B5EF4-FFF2-40B4-BE49-F238E27FC236}">
                <a16:creationId xmlns:a16="http://schemas.microsoft.com/office/drawing/2014/main" id="{CE57E7B4-3C2B-EF75-9F15-A4A1FC1B2D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4:notes">
            <a:extLst>
              <a:ext uri="{FF2B5EF4-FFF2-40B4-BE49-F238E27FC236}">
                <a16:creationId xmlns:a16="http://schemas.microsoft.com/office/drawing/2014/main" id="{C9EDE484-21FB-FE6C-86CD-7DA48E4B06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5846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44CC8A7-D32D-4743-3396-971FD4213276}"/>
            </a:ext>
          </a:extLst>
        </p:cNvPr>
        <p:cNvGrpSpPr/>
        <p:nvPr/>
      </p:nvGrpSpPr>
      <p:grpSpPr>
        <a:xfrm>
          <a:off x="0" y="0"/>
          <a:ext cx="0" cy="0"/>
          <a:chOff x="0" y="0"/>
          <a:chExt cx="0" cy="0"/>
        </a:xfrm>
      </p:grpSpPr>
      <p:sp>
        <p:nvSpPr>
          <p:cNvPr id="93" name="Google Shape;93;p6:notes">
            <a:extLst>
              <a:ext uri="{FF2B5EF4-FFF2-40B4-BE49-F238E27FC236}">
                <a16:creationId xmlns:a16="http://schemas.microsoft.com/office/drawing/2014/main" id="{B7117194-1CBA-BF35-2A5B-D31FD9B97E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a:extLst>
              <a:ext uri="{FF2B5EF4-FFF2-40B4-BE49-F238E27FC236}">
                <a16:creationId xmlns:a16="http://schemas.microsoft.com/office/drawing/2014/main" id="{19B5AFDE-8438-3F85-8B0E-4F67F63A60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76235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80E4056-20E3-74DA-4A85-CEB48BE96C6A}"/>
            </a:ext>
          </a:extLst>
        </p:cNvPr>
        <p:cNvGrpSpPr/>
        <p:nvPr/>
      </p:nvGrpSpPr>
      <p:grpSpPr>
        <a:xfrm>
          <a:off x="0" y="0"/>
          <a:ext cx="0" cy="0"/>
          <a:chOff x="0" y="0"/>
          <a:chExt cx="0" cy="0"/>
        </a:xfrm>
      </p:grpSpPr>
      <p:sp>
        <p:nvSpPr>
          <p:cNvPr id="93" name="Google Shape;93;p6:notes">
            <a:extLst>
              <a:ext uri="{FF2B5EF4-FFF2-40B4-BE49-F238E27FC236}">
                <a16:creationId xmlns:a16="http://schemas.microsoft.com/office/drawing/2014/main" id="{A478FD28-D285-4C8B-7CEB-5F7F82798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a:extLst>
              <a:ext uri="{FF2B5EF4-FFF2-40B4-BE49-F238E27FC236}">
                <a16:creationId xmlns:a16="http://schemas.microsoft.com/office/drawing/2014/main" id="{EC495251-3B15-800D-92DF-D5398428A0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9204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D324243-C2E1-C63E-89AB-591E96415D34}"/>
            </a:ext>
          </a:extLst>
        </p:cNvPr>
        <p:cNvGrpSpPr/>
        <p:nvPr/>
      </p:nvGrpSpPr>
      <p:grpSpPr>
        <a:xfrm>
          <a:off x="0" y="0"/>
          <a:ext cx="0" cy="0"/>
          <a:chOff x="0" y="0"/>
          <a:chExt cx="0" cy="0"/>
        </a:xfrm>
      </p:grpSpPr>
      <p:sp>
        <p:nvSpPr>
          <p:cNvPr id="93" name="Google Shape;93;p6:notes">
            <a:extLst>
              <a:ext uri="{FF2B5EF4-FFF2-40B4-BE49-F238E27FC236}">
                <a16:creationId xmlns:a16="http://schemas.microsoft.com/office/drawing/2014/main" id="{4125EA8B-3ABC-E4FC-61AE-2CFCF32A0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a:extLst>
              <a:ext uri="{FF2B5EF4-FFF2-40B4-BE49-F238E27FC236}">
                <a16:creationId xmlns:a16="http://schemas.microsoft.com/office/drawing/2014/main" id="{756B1EDF-F351-5778-734D-B32F14E47C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77383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FF1B219-43AB-4D74-CAB3-BB9DA5AFEDE6}"/>
            </a:ext>
          </a:extLst>
        </p:cNvPr>
        <p:cNvGrpSpPr/>
        <p:nvPr/>
      </p:nvGrpSpPr>
      <p:grpSpPr>
        <a:xfrm>
          <a:off x="0" y="0"/>
          <a:ext cx="0" cy="0"/>
          <a:chOff x="0" y="0"/>
          <a:chExt cx="0" cy="0"/>
        </a:xfrm>
      </p:grpSpPr>
      <p:sp>
        <p:nvSpPr>
          <p:cNvPr id="93" name="Google Shape;93;p6:notes">
            <a:extLst>
              <a:ext uri="{FF2B5EF4-FFF2-40B4-BE49-F238E27FC236}">
                <a16:creationId xmlns:a16="http://schemas.microsoft.com/office/drawing/2014/main" id="{CADBBF01-4FC8-2AAF-D398-559DDE93C5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a:extLst>
              <a:ext uri="{FF2B5EF4-FFF2-40B4-BE49-F238E27FC236}">
                <a16:creationId xmlns:a16="http://schemas.microsoft.com/office/drawing/2014/main" id="{D5E1607A-B289-03E5-56B0-1DD6467D64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86429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50F7865-40B9-30F1-3B58-7E988B1A077F}"/>
            </a:ext>
          </a:extLst>
        </p:cNvPr>
        <p:cNvGrpSpPr/>
        <p:nvPr/>
      </p:nvGrpSpPr>
      <p:grpSpPr>
        <a:xfrm>
          <a:off x="0" y="0"/>
          <a:ext cx="0" cy="0"/>
          <a:chOff x="0" y="0"/>
          <a:chExt cx="0" cy="0"/>
        </a:xfrm>
      </p:grpSpPr>
      <p:sp>
        <p:nvSpPr>
          <p:cNvPr id="93" name="Google Shape;93;p6:notes">
            <a:extLst>
              <a:ext uri="{FF2B5EF4-FFF2-40B4-BE49-F238E27FC236}">
                <a16:creationId xmlns:a16="http://schemas.microsoft.com/office/drawing/2014/main" id="{EC50D24E-4028-5EA8-FE7C-9C2285E1EA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a:extLst>
              <a:ext uri="{FF2B5EF4-FFF2-40B4-BE49-F238E27FC236}">
                <a16:creationId xmlns:a16="http://schemas.microsoft.com/office/drawing/2014/main" id="{B2403BCA-22C1-4D88-4CE7-D961D5B05A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56885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D990235-AEFD-7D78-E2B6-9366613FD8A0}"/>
            </a:ext>
          </a:extLst>
        </p:cNvPr>
        <p:cNvGrpSpPr/>
        <p:nvPr/>
      </p:nvGrpSpPr>
      <p:grpSpPr>
        <a:xfrm>
          <a:off x="0" y="0"/>
          <a:ext cx="0" cy="0"/>
          <a:chOff x="0" y="0"/>
          <a:chExt cx="0" cy="0"/>
        </a:xfrm>
      </p:grpSpPr>
      <p:sp>
        <p:nvSpPr>
          <p:cNvPr id="93" name="Google Shape;93;p6:notes">
            <a:extLst>
              <a:ext uri="{FF2B5EF4-FFF2-40B4-BE49-F238E27FC236}">
                <a16:creationId xmlns:a16="http://schemas.microsoft.com/office/drawing/2014/main" id="{897AF412-0CAE-1E9B-9DF8-00DABDD85D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a:extLst>
              <a:ext uri="{FF2B5EF4-FFF2-40B4-BE49-F238E27FC236}">
                <a16:creationId xmlns:a16="http://schemas.microsoft.com/office/drawing/2014/main" id="{93DA18AE-41A1-7E21-C792-6EEA19E632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92101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34EFA9DF-39A2-4DD9-79EE-AD9245737ECA}"/>
            </a:ext>
          </a:extLst>
        </p:cNvPr>
        <p:cNvGrpSpPr/>
        <p:nvPr/>
      </p:nvGrpSpPr>
      <p:grpSpPr>
        <a:xfrm>
          <a:off x="0" y="0"/>
          <a:ext cx="0" cy="0"/>
          <a:chOff x="0" y="0"/>
          <a:chExt cx="0" cy="0"/>
        </a:xfrm>
      </p:grpSpPr>
      <p:sp>
        <p:nvSpPr>
          <p:cNvPr id="128" name="Google Shape;128;p11:notes">
            <a:extLst>
              <a:ext uri="{FF2B5EF4-FFF2-40B4-BE49-F238E27FC236}">
                <a16:creationId xmlns:a16="http://schemas.microsoft.com/office/drawing/2014/main" id="{8A5FE4F6-60A8-B1DC-4430-F84B9D3246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1:notes">
            <a:extLst>
              <a:ext uri="{FF2B5EF4-FFF2-40B4-BE49-F238E27FC236}">
                <a16:creationId xmlns:a16="http://schemas.microsoft.com/office/drawing/2014/main" id="{C2B49C99-E331-EE8A-B070-D58CB4BB45D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43787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atents.google.com/patent/US20010044729A1/e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sciencedirect.com/science/article/pii/S1319157819300515"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1400700" y="220075"/>
            <a:ext cx="6087000" cy="7926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Clr>
                <a:schemeClr val="dk1"/>
              </a:buClr>
              <a:buSzPts val="605"/>
              <a:buFont typeface="Arial"/>
              <a:buNone/>
            </a:pPr>
            <a:r>
              <a:rPr lang="en" sz="2200" b="1" dirty="0">
                <a:solidFill>
                  <a:schemeClr val="dk1"/>
                </a:solidFill>
                <a:latin typeface="Times New Roman"/>
                <a:ea typeface="Times New Roman"/>
                <a:cs typeface="Times New Roman"/>
                <a:sym typeface="Times New Roman"/>
              </a:rPr>
              <a:t>NATIONAL ENGINEERING COLLEGE, </a:t>
            </a:r>
            <a:br>
              <a:rPr lang="en" sz="2200" b="1" dirty="0">
                <a:solidFill>
                  <a:schemeClr val="dk1"/>
                </a:solidFill>
                <a:latin typeface="Times New Roman"/>
                <a:ea typeface="Times New Roman"/>
                <a:cs typeface="Times New Roman"/>
                <a:sym typeface="Times New Roman"/>
              </a:rPr>
            </a:br>
            <a:r>
              <a:rPr lang="en" sz="1770" dirty="0">
                <a:solidFill>
                  <a:schemeClr val="dk1"/>
                </a:solidFill>
                <a:latin typeface="Times New Roman"/>
                <a:ea typeface="Times New Roman"/>
                <a:cs typeface="Times New Roman"/>
                <a:sym typeface="Times New Roman"/>
              </a:rPr>
              <a:t>K.R.NAGAR, KOVILPATTI - 628 503</a:t>
            </a:r>
            <a:br>
              <a:rPr lang="en" sz="2200" dirty="0">
                <a:solidFill>
                  <a:schemeClr val="dk1"/>
                </a:solidFill>
                <a:latin typeface="Times New Roman"/>
                <a:ea typeface="Times New Roman"/>
                <a:cs typeface="Times New Roman"/>
                <a:sym typeface="Times New Roman"/>
              </a:rPr>
            </a:br>
            <a:endParaRPr sz="2200" dirty="0">
              <a:solidFill>
                <a:schemeClr val="dk1"/>
              </a:solidFill>
              <a:latin typeface="Times New Roman"/>
              <a:ea typeface="Times New Roman"/>
              <a:cs typeface="Times New Roman"/>
              <a:sym typeface="Times New Roman"/>
            </a:endParaRPr>
          </a:p>
          <a:p>
            <a:pPr marL="0" lvl="0" indent="0" algn="l" rtl="0">
              <a:lnSpc>
                <a:spcPct val="80000"/>
              </a:lnSpc>
              <a:spcBef>
                <a:spcPts val="0"/>
              </a:spcBef>
              <a:spcAft>
                <a:spcPts val="0"/>
              </a:spcAft>
              <a:buSzPts val="605"/>
              <a:buNone/>
            </a:pPr>
            <a:endParaRPr sz="1540" dirty="0"/>
          </a:p>
        </p:txBody>
      </p:sp>
      <p:pic>
        <p:nvPicPr>
          <p:cNvPr id="55" name="Google Shape;55;p13"/>
          <p:cNvPicPr preferRelativeResize="0"/>
          <p:nvPr/>
        </p:nvPicPr>
        <p:blipFill rotWithShape="1">
          <a:blip r:embed="rId3">
            <a:alphaModFix/>
          </a:blip>
          <a:srcRect/>
          <a:stretch/>
        </p:blipFill>
        <p:spPr>
          <a:xfrm>
            <a:off x="643700" y="242613"/>
            <a:ext cx="757000" cy="747525"/>
          </a:xfrm>
          <a:prstGeom prst="rect">
            <a:avLst/>
          </a:prstGeom>
          <a:noFill/>
          <a:ln>
            <a:noFill/>
          </a:ln>
        </p:spPr>
      </p:pic>
      <p:sp>
        <p:nvSpPr>
          <p:cNvPr id="56" name="Google Shape;56;p13"/>
          <p:cNvSpPr txBox="1"/>
          <p:nvPr/>
        </p:nvSpPr>
        <p:spPr>
          <a:xfrm>
            <a:off x="1400700" y="1256725"/>
            <a:ext cx="6196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chemeClr val="dk1"/>
                </a:solidFill>
                <a:latin typeface="Times New Roman"/>
                <a:ea typeface="Times New Roman"/>
                <a:cs typeface="Times New Roman"/>
                <a:sym typeface="Times New Roman"/>
              </a:rPr>
              <a:t>23CS1ME - Mini-Capstone Project</a:t>
            </a:r>
            <a:endParaRPr sz="1400" b="0" i="0" u="none" strike="noStrike" cap="none" dirty="0">
              <a:solidFill>
                <a:srgbClr val="000000"/>
              </a:solidFill>
              <a:latin typeface="Arial"/>
              <a:ea typeface="Arial"/>
              <a:cs typeface="Arial"/>
              <a:sym typeface="Arial"/>
            </a:endParaRPr>
          </a:p>
        </p:txBody>
      </p:sp>
      <p:sp>
        <p:nvSpPr>
          <p:cNvPr id="57" name="Google Shape;57;p13"/>
          <p:cNvSpPr txBox="1"/>
          <p:nvPr/>
        </p:nvSpPr>
        <p:spPr>
          <a:xfrm>
            <a:off x="409137" y="1673203"/>
            <a:ext cx="8325726" cy="1308020"/>
          </a:xfrm>
          <a:prstGeom prst="rect">
            <a:avLst/>
          </a:prstGeom>
          <a:noFill/>
          <a:ln>
            <a:noFill/>
          </a:ln>
        </p:spPr>
        <p:txBody>
          <a:bodyPr spcFirstLastPara="1" wrap="square" lIns="91425" tIns="91425" rIns="91425" bIns="91425" anchor="t" anchorCtr="0">
            <a:spAutoFit/>
          </a:bodyPr>
          <a:lstStyle/>
          <a:p>
            <a:pPr lvl="0" algn="ctr">
              <a:spcBef>
                <a:spcPts val="2400"/>
              </a:spcBef>
              <a:spcAft>
                <a:spcPts val="600"/>
              </a:spcAft>
              <a:buClr>
                <a:schemeClr val="dk1"/>
              </a:buClr>
              <a:buSzPts val="1100"/>
            </a:pPr>
            <a:r>
              <a:rPr lang="en-US" sz="2400" dirty="0">
                <a:latin typeface="Times New Roman" panose="02020603050405020304" pitchFamily="18" charset="0"/>
                <a:cs typeface="Times New Roman" panose="02020603050405020304" pitchFamily="18" charset="0"/>
              </a:rPr>
              <a:t>GENERIC COMPLAINT RESOLUTION AND ESCALATION SYSTEM</a:t>
            </a:r>
            <a:endParaRPr lang="en-US" sz="1800" i="0" u="none" strike="noStrike" cap="none"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58" name="Google Shape;58;p13"/>
          <p:cNvSpPr txBox="1"/>
          <p:nvPr/>
        </p:nvSpPr>
        <p:spPr>
          <a:xfrm>
            <a:off x="5185658" y="3086400"/>
            <a:ext cx="3286800" cy="4154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500" b="1" dirty="0">
                <a:solidFill>
                  <a:schemeClr val="dk1"/>
                </a:solidFill>
                <a:latin typeface="Times New Roman"/>
                <a:ea typeface="Times New Roman"/>
                <a:cs typeface="Times New Roman"/>
                <a:sym typeface="Times New Roman"/>
              </a:rPr>
              <a:t>STUDENT DETAILS</a:t>
            </a:r>
            <a:r>
              <a:rPr lang="en" sz="1500" b="1" i="0" u="none" strike="noStrike" cap="none" dirty="0">
                <a:solidFill>
                  <a:schemeClr val="dk1"/>
                </a:solidFill>
                <a:latin typeface="Times New Roman"/>
                <a:ea typeface="Times New Roman"/>
                <a:cs typeface="Times New Roman"/>
                <a:sym typeface="Times New Roman"/>
              </a:rPr>
              <a:t>:</a:t>
            </a:r>
            <a:endParaRPr sz="1500" b="1" i="0" u="none" strike="noStrike" cap="none" dirty="0">
              <a:solidFill>
                <a:schemeClr val="dk1"/>
              </a:solidFill>
              <a:latin typeface="Times New Roman"/>
              <a:ea typeface="Times New Roman"/>
              <a:cs typeface="Times New Roman"/>
              <a:sym typeface="Times New Roman"/>
            </a:endParaRPr>
          </a:p>
        </p:txBody>
      </p:sp>
      <p:sp>
        <p:nvSpPr>
          <p:cNvPr id="59" name="Google Shape;59;p13"/>
          <p:cNvSpPr txBox="1"/>
          <p:nvPr/>
        </p:nvSpPr>
        <p:spPr>
          <a:xfrm>
            <a:off x="688725" y="3086400"/>
            <a:ext cx="3543900" cy="4154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500" b="1" i="0" u="none" strike="noStrike" cap="none" dirty="0">
                <a:solidFill>
                  <a:schemeClr val="dk1"/>
                </a:solidFill>
                <a:latin typeface="Times New Roman"/>
                <a:ea typeface="Times New Roman"/>
                <a:cs typeface="Times New Roman"/>
                <a:sym typeface="Times New Roman"/>
              </a:rPr>
              <a:t>PROJECT COORDINATOR:</a:t>
            </a:r>
            <a:endParaRPr sz="1500" b="1" i="0" u="none" strike="noStrike" cap="none" dirty="0">
              <a:solidFill>
                <a:schemeClr val="dk1"/>
              </a:solidFill>
              <a:latin typeface="Times New Roman"/>
              <a:ea typeface="Times New Roman"/>
              <a:cs typeface="Times New Roman"/>
              <a:sym typeface="Times New Roman"/>
            </a:endParaRPr>
          </a:p>
        </p:txBody>
      </p:sp>
      <p:sp>
        <p:nvSpPr>
          <p:cNvPr id="60" name="Google Shape;60;p13"/>
          <p:cNvSpPr txBox="1"/>
          <p:nvPr/>
        </p:nvSpPr>
        <p:spPr>
          <a:xfrm>
            <a:off x="5639937" y="3381750"/>
            <a:ext cx="3160500" cy="40007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dirty="0">
                <a:solidFill>
                  <a:schemeClr val="dk1"/>
                </a:solidFill>
                <a:latin typeface="Times New Roman"/>
                <a:ea typeface="Times New Roman"/>
                <a:cs typeface="Times New Roman"/>
                <a:sym typeface="Times New Roman"/>
              </a:rPr>
              <a:t>SUBIKSHAN M – 2212110 </a:t>
            </a:r>
          </a:p>
        </p:txBody>
      </p:sp>
      <p:sp>
        <p:nvSpPr>
          <p:cNvPr id="61" name="Google Shape;61;p13"/>
          <p:cNvSpPr txBox="1"/>
          <p:nvPr/>
        </p:nvSpPr>
        <p:spPr>
          <a:xfrm>
            <a:off x="6865500" y="4656617"/>
            <a:ext cx="1699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Times New Roman"/>
                <a:ea typeface="Times New Roman"/>
                <a:cs typeface="Times New Roman"/>
                <a:sym typeface="Times New Roman"/>
              </a:rPr>
              <a:t>DATE: </a:t>
            </a:r>
            <a:r>
              <a:rPr lang="en" dirty="0">
                <a:solidFill>
                  <a:schemeClr val="dk1"/>
                </a:solidFill>
                <a:latin typeface="Times New Roman"/>
                <a:ea typeface="Times New Roman"/>
                <a:cs typeface="Times New Roman"/>
                <a:sym typeface="Times New Roman"/>
              </a:rPr>
              <a:t>03</a:t>
            </a:r>
            <a:r>
              <a:rPr lang="en" sz="1400" b="0" i="0" u="none" strike="noStrike" cap="none" dirty="0">
                <a:solidFill>
                  <a:schemeClr val="dk1"/>
                </a:solidFill>
                <a:latin typeface="Times New Roman"/>
                <a:ea typeface="Times New Roman"/>
                <a:cs typeface="Times New Roman"/>
                <a:sym typeface="Times New Roman"/>
              </a:rPr>
              <a:t>-01-2026</a:t>
            </a:r>
            <a:endParaRPr sz="1400" b="0" i="0" u="none" strike="noStrike" cap="none" dirty="0">
              <a:solidFill>
                <a:schemeClr val="dk1"/>
              </a:solidFill>
              <a:latin typeface="Times New Roman"/>
              <a:ea typeface="Times New Roman"/>
              <a:cs typeface="Times New Roman"/>
              <a:sym typeface="Times New Roman"/>
            </a:endParaRPr>
          </a:p>
        </p:txBody>
      </p:sp>
      <p:sp>
        <p:nvSpPr>
          <p:cNvPr id="62" name="Google Shape;62;p13"/>
          <p:cNvSpPr txBox="1"/>
          <p:nvPr/>
        </p:nvSpPr>
        <p:spPr>
          <a:xfrm>
            <a:off x="859773" y="3410062"/>
            <a:ext cx="4235601" cy="400079"/>
          </a:xfrm>
          <a:prstGeom prst="rect">
            <a:avLst/>
          </a:prstGeom>
          <a:noFill/>
          <a:ln>
            <a:noFill/>
          </a:ln>
        </p:spPr>
        <p:txBody>
          <a:bodyPr spcFirstLastPara="1" wrap="square" lIns="91425" tIns="91425" rIns="91425" bIns="91425" anchor="t" anchorCtr="0">
            <a:spAutoFit/>
          </a:bodyPr>
          <a:lstStyle/>
          <a:p>
            <a:pPr lvl="0">
              <a:buSzPts val="1400"/>
            </a:pPr>
            <a:r>
              <a:rPr lang="en-IN" dirty="0">
                <a:latin typeface="Times New Roman" panose="02020603050405020304" pitchFamily="18" charset="0"/>
                <a:cs typeface="Times New Roman" panose="02020603050405020304" pitchFamily="18" charset="0"/>
              </a:rPr>
              <a:t>MS. R. </a:t>
            </a:r>
            <a:r>
              <a:rPr lang="en-IN" dirty="0" err="1">
                <a:latin typeface="Times New Roman" panose="02020603050405020304" pitchFamily="18" charset="0"/>
                <a:cs typeface="Times New Roman" panose="02020603050405020304" pitchFamily="18" charset="0"/>
              </a:rPr>
              <a:t>Vazhan</a:t>
            </a:r>
            <a:r>
              <a:rPr lang="en-IN" dirty="0">
                <a:latin typeface="Times New Roman" panose="02020603050405020304" pitchFamily="18" charset="0"/>
                <a:cs typeface="Times New Roman" panose="02020603050405020304" pitchFamily="18" charset="0"/>
              </a:rPr>
              <a:t> Arul Santhiya, AP/CSE</a:t>
            </a:r>
            <a:endParaRPr lang="en-IN" sz="14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63" name="Google Shape;6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311700" y="206463"/>
            <a:ext cx="8520600" cy="572700"/>
          </a:xfrm>
          <a:prstGeom prst="rect">
            <a:avLst/>
          </a:prstGeom>
          <a:noFill/>
          <a:ln>
            <a:noFill/>
          </a:ln>
        </p:spPr>
        <p:txBody>
          <a:bodyPr spcFirstLastPara="1" wrap="square" lIns="91425" tIns="91425" rIns="91425" bIns="91425" anchor="t" anchorCtr="0">
            <a:noAutofit/>
          </a:bodyPr>
          <a:lstStyle/>
          <a:p>
            <a:pPr lvl="0">
              <a:buSzPts val="3111"/>
            </a:pPr>
            <a:r>
              <a:rPr lang="en-IN" sz="2400" b="1" dirty="0">
                <a:latin typeface="Times New Roman" panose="02020603050405020304" pitchFamily="18" charset="0"/>
                <a:cs typeface="Times New Roman" panose="02020603050405020304" pitchFamily="18" charset="0"/>
              </a:rPr>
              <a:t>PROBLEM DEFINITION &amp; MOTIVATION</a:t>
            </a:r>
            <a:endParaRPr sz="2500" b="1" u="sng" dirty="0">
              <a:latin typeface="Times New Roman" panose="02020603050405020304" pitchFamily="18" charset="0"/>
              <a:ea typeface="Times New Roman"/>
              <a:cs typeface="Times New Roman" panose="02020603050405020304" pitchFamily="18" charset="0"/>
              <a:sym typeface="Times New Roman"/>
            </a:endParaRPr>
          </a:p>
        </p:txBody>
      </p:sp>
      <p:sp>
        <p:nvSpPr>
          <p:cNvPr id="76" name="Google Shape;76;p15"/>
          <p:cNvSpPr txBox="1">
            <a:spLocks noGrp="1"/>
          </p:cNvSpPr>
          <p:nvPr>
            <p:ph type="body" idx="1"/>
          </p:nvPr>
        </p:nvSpPr>
        <p:spPr>
          <a:xfrm>
            <a:off x="226208" y="707306"/>
            <a:ext cx="8520600" cy="3416400"/>
          </a:xfrm>
          <a:prstGeom prst="rect">
            <a:avLst/>
          </a:prstGeom>
          <a:noFill/>
          <a:ln>
            <a:noFill/>
          </a:ln>
        </p:spPr>
        <p:txBody>
          <a:bodyPr spcFirstLastPara="1" wrap="square" lIns="91425" tIns="91425" rIns="91425" bIns="91425" anchor="t" anchorCtr="0">
            <a:noAutofit/>
          </a:bodyPr>
          <a:lstStyle/>
          <a:p>
            <a:pPr marL="114300" indent="0">
              <a:buNone/>
            </a:pPr>
            <a:r>
              <a:rPr lang="en-US" b="1" dirty="0">
                <a:solidFill>
                  <a:schemeClr val="accent2"/>
                </a:solidFill>
                <a:latin typeface="Times New Roman" panose="02020603050405020304" pitchFamily="18" charset="0"/>
                <a:cs typeface="Times New Roman" panose="02020603050405020304" pitchFamily="18" charset="0"/>
              </a:rPr>
              <a:t>Problem Definition</a:t>
            </a:r>
          </a:p>
          <a:p>
            <a:r>
              <a:rPr lang="en-US" dirty="0">
                <a:solidFill>
                  <a:schemeClr val="accent2"/>
                </a:solidFill>
                <a:latin typeface="Times New Roman" panose="02020603050405020304" pitchFamily="18" charset="0"/>
                <a:cs typeface="Times New Roman" panose="02020603050405020304" pitchFamily="18" charset="0"/>
              </a:rPr>
              <a:t>In many organizations, complaints are handled using emails, phone calls, WhatsApp messages, or manual registers.</a:t>
            </a:r>
          </a:p>
          <a:p>
            <a:r>
              <a:rPr lang="en-US" dirty="0">
                <a:solidFill>
                  <a:schemeClr val="accent2"/>
                </a:solidFill>
                <a:latin typeface="Times New Roman" panose="02020603050405020304" pitchFamily="18" charset="0"/>
                <a:cs typeface="Times New Roman" panose="02020603050405020304" pitchFamily="18" charset="0"/>
              </a:rPr>
              <a:t>Once a complaint is submitted, there is no proper mechanism to track its progress.</a:t>
            </a:r>
          </a:p>
          <a:p>
            <a:r>
              <a:rPr lang="en-US" dirty="0">
                <a:solidFill>
                  <a:schemeClr val="accent2"/>
                </a:solidFill>
                <a:latin typeface="Times New Roman" panose="02020603050405020304" pitchFamily="18" charset="0"/>
                <a:cs typeface="Times New Roman" panose="02020603050405020304" pitchFamily="18" charset="0"/>
              </a:rPr>
              <a:t>Users are unaware of complaint status.</a:t>
            </a:r>
          </a:p>
          <a:p>
            <a:r>
              <a:rPr lang="en-US" dirty="0">
                <a:solidFill>
                  <a:schemeClr val="accent2"/>
                </a:solidFill>
                <a:latin typeface="Times New Roman" panose="02020603050405020304" pitchFamily="18" charset="0"/>
                <a:cs typeface="Times New Roman" panose="02020603050405020304" pitchFamily="18" charset="0"/>
              </a:rPr>
              <a:t>Administrators cannot monitor delays or staff accountability.</a:t>
            </a:r>
          </a:p>
          <a:p>
            <a:pPr marL="114300" indent="0">
              <a:buNone/>
            </a:pPr>
            <a:r>
              <a:rPr lang="en-US" b="1" dirty="0">
                <a:solidFill>
                  <a:schemeClr val="accent2"/>
                </a:solidFill>
                <a:latin typeface="Times New Roman" panose="02020603050405020304" pitchFamily="18" charset="0"/>
                <a:cs typeface="Times New Roman" panose="02020603050405020304" pitchFamily="18" charset="0"/>
              </a:rPr>
              <a:t>Motivation</a:t>
            </a:r>
          </a:p>
          <a:p>
            <a:r>
              <a:rPr lang="en-US" dirty="0">
                <a:solidFill>
                  <a:schemeClr val="accent2"/>
                </a:solidFill>
                <a:latin typeface="Times New Roman" panose="02020603050405020304" pitchFamily="18" charset="0"/>
                <a:cs typeface="Times New Roman" panose="02020603050405020304" pitchFamily="18" charset="0"/>
              </a:rPr>
              <a:t>Delayed complaint resolution</a:t>
            </a:r>
          </a:p>
          <a:p>
            <a:r>
              <a:rPr lang="en-US" dirty="0">
                <a:solidFill>
                  <a:schemeClr val="accent2"/>
                </a:solidFill>
                <a:latin typeface="Times New Roman" panose="02020603050405020304" pitchFamily="18" charset="0"/>
                <a:cs typeface="Times New Roman" panose="02020603050405020304" pitchFamily="18" charset="0"/>
              </a:rPr>
              <a:t>Lack of transparency</a:t>
            </a:r>
          </a:p>
          <a:p>
            <a:r>
              <a:rPr lang="en-US" dirty="0">
                <a:solidFill>
                  <a:schemeClr val="accent2"/>
                </a:solidFill>
                <a:latin typeface="Times New Roman" panose="02020603050405020304" pitchFamily="18" charset="0"/>
                <a:cs typeface="Times New Roman" panose="02020603050405020304" pitchFamily="18" charset="0"/>
              </a:rPr>
              <a:t>No escalation mechanism</a:t>
            </a:r>
          </a:p>
          <a:p>
            <a:r>
              <a:rPr lang="en-US" dirty="0">
                <a:solidFill>
                  <a:schemeClr val="accent2"/>
                </a:solidFill>
                <a:latin typeface="Times New Roman" panose="02020603050405020304" pitchFamily="18" charset="0"/>
                <a:cs typeface="Times New Roman" panose="02020603050405020304" pitchFamily="18" charset="0"/>
              </a:rPr>
              <a:t>Poor service quality</a:t>
            </a:r>
          </a:p>
          <a:p>
            <a:endParaRPr lang="en-US" dirty="0">
              <a:solidFill>
                <a:schemeClr val="accent2"/>
              </a:solidFill>
              <a:latin typeface="Times New Roman" panose="02020603050405020304" pitchFamily="18" charset="0"/>
              <a:cs typeface="Times New Roman" panose="02020603050405020304" pitchFamily="18" charset="0"/>
            </a:endParaRPr>
          </a:p>
          <a:p>
            <a:pPr marL="114300" indent="0">
              <a:buNone/>
            </a:pPr>
            <a:r>
              <a:rPr lang="en-US" b="1" dirty="0">
                <a:solidFill>
                  <a:schemeClr val="accent2"/>
                </a:solidFill>
                <a:latin typeface="Times New Roman" panose="02020603050405020304" pitchFamily="18" charset="0"/>
                <a:cs typeface="Times New Roman" panose="02020603050405020304" pitchFamily="18" charset="0"/>
              </a:rPr>
              <a:t>Hence, a structured and centralized complaint management system is required.</a:t>
            </a:r>
            <a:endParaRPr lang="en-US" dirty="0">
              <a:solidFill>
                <a:schemeClr val="accent2"/>
              </a:solidFill>
              <a:latin typeface="Times New Roman" panose="02020603050405020304" pitchFamily="18" charset="0"/>
              <a:cs typeface="Times New Roman" panose="02020603050405020304" pitchFamily="18" charset="0"/>
            </a:endParaRPr>
          </a:p>
        </p:txBody>
      </p:sp>
      <p:sp>
        <p:nvSpPr>
          <p:cNvPr id="77" name="Google Shape;77;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latin typeface="Times New Roman"/>
                <a:ea typeface="Times New Roman"/>
                <a:cs typeface="Times New Roman"/>
                <a:sym typeface="Times New Roman"/>
              </a:rPr>
              <a:t>2</a:t>
            </a:fld>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11700" y="150252"/>
            <a:ext cx="8520600" cy="572700"/>
          </a:xfrm>
          <a:prstGeom prst="rect">
            <a:avLst/>
          </a:prstGeom>
          <a:noFill/>
          <a:ln>
            <a:noFill/>
          </a:ln>
        </p:spPr>
        <p:txBody>
          <a:bodyPr spcFirstLastPara="1" wrap="square" lIns="91425" tIns="91425" rIns="91425" bIns="91425" anchor="t" anchorCtr="0">
            <a:noAutofit/>
          </a:bodyPr>
          <a:lstStyle/>
          <a:p>
            <a:pPr lvl="0">
              <a:buSzPts val="3111"/>
            </a:pPr>
            <a:r>
              <a:rPr lang="en-IN" sz="2400" b="1" dirty="0">
                <a:latin typeface="Times New Roman" panose="02020603050405020304" pitchFamily="18" charset="0"/>
                <a:cs typeface="Times New Roman" panose="02020603050405020304" pitchFamily="18" charset="0"/>
              </a:rPr>
              <a:t>LITERATURE SURVEY &amp; SYSTEM ANALYSIS</a:t>
            </a:r>
            <a:endParaRPr sz="2500" b="1" u="sng" dirty="0">
              <a:latin typeface="Times New Roman" panose="02020603050405020304" pitchFamily="18" charset="0"/>
              <a:ea typeface="Times New Roman"/>
              <a:cs typeface="Times New Roman" panose="02020603050405020304" pitchFamily="18" charset="0"/>
              <a:sym typeface="Times New Roman"/>
            </a:endParaRPr>
          </a:p>
        </p:txBody>
      </p:sp>
      <p:sp>
        <p:nvSpPr>
          <p:cNvPr id="83" name="Google Shape;83;p16"/>
          <p:cNvSpPr txBox="1">
            <a:spLocks noGrp="1"/>
          </p:cNvSpPr>
          <p:nvPr>
            <p:ph type="body" idx="1"/>
          </p:nvPr>
        </p:nvSpPr>
        <p:spPr>
          <a:xfrm>
            <a:off x="226208" y="659013"/>
            <a:ext cx="8520600" cy="4279950"/>
          </a:xfrm>
          <a:prstGeom prst="rect">
            <a:avLst/>
          </a:prstGeom>
          <a:noFill/>
          <a:ln>
            <a:noFill/>
          </a:ln>
        </p:spPr>
        <p:txBody>
          <a:bodyPr spcFirstLastPara="1" wrap="square" lIns="91425" tIns="91425" rIns="91425" bIns="91425" anchor="t" anchorCtr="0">
            <a:noAutofit/>
          </a:bodyPr>
          <a:lstStyle/>
          <a:p>
            <a:pPr marL="114300" indent="0">
              <a:buNone/>
            </a:pPr>
            <a:r>
              <a:rPr lang="en-US" sz="1300" b="1" dirty="0">
                <a:solidFill>
                  <a:schemeClr val="accent2"/>
                </a:solidFill>
                <a:latin typeface="Times New Roman" panose="02020603050405020304" pitchFamily="18" charset="0"/>
                <a:cs typeface="Times New Roman" panose="02020603050405020304" pitchFamily="18" charset="0"/>
              </a:rPr>
              <a:t>Brenda Pomerance (2001) — </a:t>
            </a:r>
            <a:r>
              <a:rPr lang="en-US" sz="1300" b="1" i="1" dirty="0">
                <a:solidFill>
                  <a:schemeClr val="accent2"/>
                </a:solidFill>
                <a:latin typeface="Times New Roman" panose="02020603050405020304" pitchFamily="18" charset="0"/>
                <a:cs typeface="Times New Roman" panose="02020603050405020304" pitchFamily="18" charset="0"/>
              </a:rPr>
              <a:t>Automated Complaint Management System</a:t>
            </a:r>
            <a:r>
              <a:rPr lang="en-US" sz="1300" b="1" dirty="0">
                <a:solidFill>
                  <a:schemeClr val="accent2"/>
                </a:solidFill>
                <a:latin typeface="Times New Roman" panose="02020603050405020304" pitchFamily="18" charset="0"/>
                <a:cs typeface="Times New Roman" panose="02020603050405020304" pitchFamily="18" charset="0"/>
              </a:rPr>
              <a:t> (Patent US20010044729A1)</a:t>
            </a:r>
          </a:p>
          <a:p>
            <a:pPr>
              <a:buSzPct val="119000"/>
            </a:pPr>
            <a:r>
              <a:rPr lang="en-US" sz="1300" dirty="0">
                <a:solidFill>
                  <a:schemeClr val="accent2"/>
                </a:solidFill>
                <a:latin typeface="Times New Roman" panose="02020603050405020304" pitchFamily="18" charset="0"/>
                <a:cs typeface="Times New Roman" panose="02020603050405020304" pitchFamily="18" charset="0"/>
              </a:rPr>
              <a:t>This patent describes a computer-implemented complaint/dispute management system that accepts complaints via a web interface, compares complaint details against stored business rules, and can automatically generate resolution offers or escalate to automated mediation. The system keeps detailed case records and supports automated negotiation and compliance monitoring. </a:t>
            </a:r>
            <a:r>
              <a:rPr lang="en-US" sz="1300" dirty="0">
                <a:solidFill>
                  <a:schemeClr val="accent2"/>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Google Patents</a:t>
            </a:r>
            <a:endParaRPr lang="en-US" sz="1300" dirty="0">
              <a:solidFill>
                <a:schemeClr val="accent2"/>
              </a:solidFill>
              <a:latin typeface="Times New Roman" panose="02020603050405020304" pitchFamily="18" charset="0"/>
              <a:cs typeface="Times New Roman" panose="02020603050405020304" pitchFamily="18" charset="0"/>
            </a:endParaRPr>
          </a:p>
          <a:p>
            <a:pPr>
              <a:buSzPct val="119000"/>
            </a:pPr>
            <a:r>
              <a:rPr lang="en-US" sz="1300" b="1" dirty="0">
                <a:solidFill>
                  <a:schemeClr val="accent2"/>
                </a:solidFill>
                <a:latin typeface="Times New Roman" panose="02020603050405020304" pitchFamily="18" charset="0"/>
                <a:cs typeface="Times New Roman" panose="02020603050405020304" pitchFamily="18" charset="0"/>
              </a:rPr>
              <a:t>Limitation:</a:t>
            </a:r>
            <a:r>
              <a:rPr lang="en-US" sz="1300" dirty="0">
                <a:solidFill>
                  <a:schemeClr val="accent2"/>
                </a:solidFill>
                <a:latin typeface="Times New Roman" panose="02020603050405020304" pitchFamily="18" charset="0"/>
                <a:cs typeface="Times New Roman" panose="02020603050405020304" pitchFamily="18" charset="0"/>
              </a:rPr>
              <a:t> The patent focuses on automated negotiation between consumer and merchant and arbitration-style dispute resolution; it does not address role-based staff assignment, configurable organizational escalation policies, or analytics-driven bottleneck identification needed for internal organizational complaint workflows.</a:t>
            </a:r>
          </a:p>
          <a:p>
            <a:pPr marL="114300" indent="0">
              <a:buNone/>
            </a:pPr>
            <a:endParaRPr lang="en-US" sz="1300" dirty="0">
              <a:solidFill>
                <a:schemeClr val="accent2"/>
              </a:solidFill>
              <a:latin typeface="Times New Roman" panose="02020603050405020304" pitchFamily="18" charset="0"/>
              <a:cs typeface="Times New Roman" panose="02020603050405020304" pitchFamily="18" charset="0"/>
            </a:endParaRPr>
          </a:p>
          <a:p>
            <a:pPr marL="114300" indent="0">
              <a:buNone/>
            </a:pPr>
            <a:r>
              <a:rPr lang="en-US" sz="1300" b="1" dirty="0">
                <a:solidFill>
                  <a:schemeClr val="accent2"/>
                </a:solidFill>
                <a:latin typeface="Times New Roman" panose="02020603050405020304" pitchFamily="18" charset="0"/>
                <a:cs typeface="Times New Roman" panose="02020603050405020304" pitchFamily="18" charset="0"/>
              </a:rPr>
              <a:t>Feras Al-Hawari &amp; Hala Barham (2019) — </a:t>
            </a:r>
            <a:r>
              <a:rPr lang="en-US" sz="1300" b="1" i="1" dirty="0">
                <a:solidFill>
                  <a:schemeClr val="accent2"/>
                </a:solidFill>
                <a:latin typeface="Times New Roman" panose="02020603050405020304" pitchFamily="18" charset="0"/>
                <a:cs typeface="Times New Roman" panose="02020603050405020304" pitchFamily="18" charset="0"/>
              </a:rPr>
              <a:t>A machine learning based help desk system for IT service management</a:t>
            </a:r>
            <a:r>
              <a:rPr lang="en-US" sz="1300" b="1" dirty="0">
                <a:solidFill>
                  <a:schemeClr val="accent2"/>
                </a:solidFill>
                <a:latin typeface="Times New Roman" panose="02020603050405020304" pitchFamily="18" charset="0"/>
                <a:cs typeface="Times New Roman" panose="02020603050405020304" pitchFamily="18" charset="0"/>
              </a:rPr>
              <a:t> (Journal of King Saud University — Computer and Information Sciences)</a:t>
            </a:r>
          </a:p>
          <a:p>
            <a:pPr>
              <a:buSzPct val="119000"/>
            </a:pPr>
            <a:r>
              <a:rPr lang="en-US" sz="1300" dirty="0">
                <a:solidFill>
                  <a:schemeClr val="accent2"/>
                </a:solidFill>
                <a:latin typeface="Times New Roman" panose="02020603050405020304" pitchFamily="18" charset="0"/>
                <a:cs typeface="Times New Roman" panose="02020603050405020304" pitchFamily="18" charset="0"/>
              </a:rPr>
              <a:t>This paper presents a help-desk system that uses text classification (ML) to automatically assign and classify tickets, improving routing accuracy and reducing resolution time. The authors report that including ticket comments and descriptions in training data raised classifier accuracy significantly, and the system supports admin views for service definition, role management, and KPI reporting. </a:t>
            </a:r>
            <a:r>
              <a:rPr lang="en-US" sz="1300" dirty="0">
                <a:solidFill>
                  <a:schemeClr val="accent2"/>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ScienceDirect</a:t>
            </a:r>
            <a:endParaRPr lang="en-US" sz="1300" dirty="0">
              <a:solidFill>
                <a:schemeClr val="accent2"/>
              </a:solidFill>
              <a:latin typeface="Times New Roman" panose="02020603050405020304" pitchFamily="18" charset="0"/>
              <a:cs typeface="Times New Roman" panose="02020603050405020304" pitchFamily="18" charset="0"/>
            </a:endParaRPr>
          </a:p>
          <a:p>
            <a:pPr>
              <a:buSzPct val="119000"/>
            </a:pPr>
            <a:r>
              <a:rPr lang="en-US" sz="1300" b="1" dirty="0">
                <a:solidFill>
                  <a:schemeClr val="accent2"/>
                </a:solidFill>
                <a:latin typeface="Times New Roman" panose="02020603050405020304" pitchFamily="18" charset="0"/>
                <a:cs typeface="Times New Roman" panose="02020603050405020304" pitchFamily="18" charset="0"/>
              </a:rPr>
              <a:t>Limitation:</a:t>
            </a:r>
            <a:r>
              <a:rPr lang="en-US" sz="1300" dirty="0">
                <a:solidFill>
                  <a:schemeClr val="accent2"/>
                </a:solidFill>
                <a:latin typeface="Times New Roman" panose="02020603050405020304" pitchFamily="18" charset="0"/>
                <a:cs typeface="Times New Roman" panose="02020603050405020304" pitchFamily="18" charset="0"/>
              </a:rPr>
              <a:t> The study focuses on ML-based ticket classification and ITSM automation; it assumes advanced data availability and does not propose lightweight, configurable escalation rules or a generic, domain-independent complaint lifecycle suitable for small/medium organizations.</a:t>
            </a:r>
          </a:p>
          <a:p>
            <a:pPr marL="114300" indent="0">
              <a:buNone/>
            </a:pPr>
            <a:endParaRPr lang="en-US" sz="1300" dirty="0">
              <a:solidFill>
                <a:schemeClr val="accent2"/>
              </a:solidFill>
              <a:latin typeface="Times New Roman" panose="02020603050405020304" pitchFamily="18" charset="0"/>
              <a:cs typeface="Times New Roman" panose="02020603050405020304" pitchFamily="18" charset="0"/>
            </a:endParaRPr>
          </a:p>
        </p:txBody>
      </p:sp>
      <p:sp>
        <p:nvSpPr>
          <p:cNvPr id="84" name="Google Shape;8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FB6D73FA-A1D7-750F-FE04-B67CDC351796}"/>
            </a:ext>
          </a:extLst>
        </p:cNvPr>
        <p:cNvGrpSpPr/>
        <p:nvPr/>
      </p:nvGrpSpPr>
      <p:grpSpPr>
        <a:xfrm>
          <a:off x="0" y="0"/>
          <a:ext cx="0" cy="0"/>
          <a:chOff x="0" y="0"/>
          <a:chExt cx="0" cy="0"/>
        </a:xfrm>
      </p:grpSpPr>
      <p:sp>
        <p:nvSpPr>
          <p:cNvPr id="82" name="Google Shape;82;p16">
            <a:extLst>
              <a:ext uri="{FF2B5EF4-FFF2-40B4-BE49-F238E27FC236}">
                <a16:creationId xmlns:a16="http://schemas.microsoft.com/office/drawing/2014/main" id="{FAE3AAF8-C2D2-21E1-3EFB-EC96782490BE}"/>
              </a:ext>
            </a:extLst>
          </p:cNvPr>
          <p:cNvSpPr txBox="1">
            <a:spLocks noGrp="1"/>
          </p:cNvSpPr>
          <p:nvPr>
            <p:ph type="title"/>
          </p:nvPr>
        </p:nvSpPr>
        <p:spPr>
          <a:xfrm>
            <a:off x="311700" y="150252"/>
            <a:ext cx="8520600" cy="572700"/>
          </a:xfrm>
          <a:prstGeom prst="rect">
            <a:avLst/>
          </a:prstGeom>
          <a:noFill/>
          <a:ln>
            <a:noFill/>
          </a:ln>
        </p:spPr>
        <p:txBody>
          <a:bodyPr spcFirstLastPara="1" wrap="square" lIns="91425" tIns="91425" rIns="91425" bIns="91425" anchor="t" anchorCtr="0">
            <a:noAutofit/>
          </a:bodyPr>
          <a:lstStyle/>
          <a:p>
            <a:pPr lvl="0">
              <a:buSzPts val="3111"/>
            </a:pPr>
            <a:r>
              <a:rPr lang="en-IN" sz="2400" b="1" dirty="0">
                <a:latin typeface="Times New Roman" panose="02020603050405020304" pitchFamily="18" charset="0"/>
                <a:cs typeface="Times New Roman" panose="02020603050405020304" pitchFamily="18" charset="0"/>
              </a:rPr>
              <a:t>LITERATURE SURVEY &amp; SYSTEM ANALYSIS</a:t>
            </a:r>
            <a:endParaRPr sz="2500" b="1" u="sng" dirty="0">
              <a:latin typeface="Times New Roman" panose="02020603050405020304" pitchFamily="18" charset="0"/>
              <a:ea typeface="Times New Roman"/>
              <a:cs typeface="Times New Roman" panose="02020603050405020304" pitchFamily="18" charset="0"/>
              <a:sym typeface="Times New Roman"/>
            </a:endParaRPr>
          </a:p>
        </p:txBody>
      </p:sp>
      <p:sp>
        <p:nvSpPr>
          <p:cNvPr id="83" name="Google Shape;83;p16">
            <a:extLst>
              <a:ext uri="{FF2B5EF4-FFF2-40B4-BE49-F238E27FC236}">
                <a16:creationId xmlns:a16="http://schemas.microsoft.com/office/drawing/2014/main" id="{CAA5D312-D9E3-9FD1-E5D1-8DEB58115CE3}"/>
              </a:ext>
            </a:extLst>
          </p:cNvPr>
          <p:cNvSpPr txBox="1">
            <a:spLocks noGrp="1"/>
          </p:cNvSpPr>
          <p:nvPr>
            <p:ph type="body" idx="1"/>
          </p:nvPr>
        </p:nvSpPr>
        <p:spPr>
          <a:xfrm>
            <a:off x="226208" y="659013"/>
            <a:ext cx="8520600" cy="4279950"/>
          </a:xfrm>
          <a:prstGeom prst="rect">
            <a:avLst/>
          </a:prstGeom>
          <a:noFill/>
          <a:ln>
            <a:noFill/>
          </a:ln>
        </p:spPr>
        <p:txBody>
          <a:bodyPr spcFirstLastPara="1" wrap="square" lIns="91425" tIns="91425" rIns="91425" bIns="91425" anchor="t" anchorCtr="0">
            <a:no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(The following papers and documents were surveyed to understand recent trends in complaint management, ticketing systems, and escalation workflows.)</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a:buNone/>
            </a:pPr>
            <a:r>
              <a:rPr lang="en-IN" sz="1400"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S. Kumar &amp; R. Gupta (2019)</a:t>
            </a:r>
            <a:r>
              <a:rPr lang="en-IN" sz="1400" dirty="0">
                <a:solidFill>
                  <a:schemeClr val="tx1"/>
                </a:solidFill>
                <a:latin typeface="Times New Roman" panose="02020603050405020304" pitchFamily="18" charset="0"/>
                <a:cs typeface="Times New Roman" panose="02020603050405020304" pitchFamily="18" charset="0"/>
              </a:rPr>
              <a:t> – Web-Based Complaint Management System for Service Organizations</a:t>
            </a:r>
          </a:p>
          <a:p>
            <a:pPr>
              <a:buNone/>
            </a:pPr>
            <a:r>
              <a:rPr lang="en-IN" sz="1400"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A. Al-Hawari &amp; H. Barham (2019)</a:t>
            </a:r>
            <a:r>
              <a:rPr lang="en-IN" sz="1400" dirty="0">
                <a:solidFill>
                  <a:schemeClr val="tx1"/>
                </a:solidFill>
                <a:latin typeface="Times New Roman" panose="02020603050405020304" pitchFamily="18" charset="0"/>
                <a:cs typeface="Times New Roman" panose="02020603050405020304" pitchFamily="18" charset="0"/>
              </a:rPr>
              <a:t> – A Machine Learning Based Help Desk System for IT Service Management</a:t>
            </a:r>
          </a:p>
          <a:p>
            <a:pPr>
              <a:buNone/>
            </a:pPr>
            <a:r>
              <a:rPr lang="en-IN" sz="1400"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P. Singh &amp; N. Verma (2020)</a:t>
            </a:r>
            <a:r>
              <a:rPr lang="en-IN" sz="1400" dirty="0">
                <a:solidFill>
                  <a:schemeClr val="tx1"/>
                </a:solidFill>
                <a:latin typeface="Times New Roman" panose="02020603050405020304" pitchFamily="18" charset="0"/>
                <a:cs typeface="Times New Roman" panose="02020603050405020304" pitchFamily="18" charset="0"/>
              </a:rPr>
              <a:t> – Design and Implementation of Online Grievance Redressal System</a:t>
            </a:r>
          </a:p>
          <a:p>
            <a:pPr>
              <a:buNone/>
            </a:pPr>
            <a:r>
              <a:rPr lang="en-IN" sz="1400"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M. </a:t>
            </a:r>
            <a:r>
              <a:rPr lang="en-IN" sz="1400" b="1" dirty="0" err="1">
                <a:solidFill>
                  <a:schemeClr val="tx1"/>
                </a:solidFill>
                <a:latin typeface="Times New Roman" panose="02020603050405020304" pitchFamily="18" charset="0"/>
                <a:cs typeface="Times New Roman" panose="02020603050405020304" pitchFamily="18" charset="0"/>
              </a:rPr>
              <a:t>Alshamrani</a:t>
            </a:r>
            <a:r>
              <a:rPr lang="en-IN" sz="1400" b="1" dirty="0">
                <a:solidFill>
                  <a:schemeClr val="tx1"/>
                </a:solidFill>
                <a:latin typeface="Times New Roman" panose="02020603050405020304" pitchFamily="18" charset="0"/>
                <a:cs typeface="Times New Roman" panose="02020603050405020304" pitchFamily="18" charset="0"/>
              </a:rPr>
              <a:t> &amp; A. </a:t>
            </a:r>
            <a:r>
              <a:rPr lang="en-IN" sz="1400" b="1" dirty="0" err="1">
                <a:solidFill>
                  <a:schemeClr val="tx1"/>
                </a:solidFill>
                <a:latin typeface="Times New Roman" panose="02020603050405020304" pitchFamily="18" charset="0"/>
                <a:cs typeface="Times New Roman" panose="02020603050405020304" pitchFamily="18" charset="0"/>
              </a:rPr>
              <a:t>Alkhathlan</a:t>
            </a:r>
            <a:r>
              <a:rPr lang="en-IN" sz="1400" b="1" dirty="0">
                <a:solidFill>
                  <a:schemeClr val="tx1"/>
                </a:solidFill>
                <a:latin typeface="Times New Roman" panose="02020603050405020304" pitchFamily="18" charset="0"/>
                <a:cs typeface="Times New Roman" panose="02020603050405020304" pitchFamily="18" charset="0"/>
              </a:rPr>
              <a:t> (2021)</a:t>
            </a:r>
            <a:r>
              <a:rPr lang="en-IN" sz="1400" dirty="0">
                <a:solidFill>
                  <a:schemeClr val="tx1"/>
                </a:solidFill>
                <a:latin typeface="Times New Roman" panose="02020603050405020304" pitchFamily="18" charset="0"/>
                <a:cs typeface="Times New Roman" panose="02020603050405020304" pitchFamily="18" charset="0"/>
              </a:rPr>
              <a:t> – Role-Based Ticketing and Issue Tracking Systems for Organizations</a:t>
            </a:r>
          </a:p>
          <a:p>
            <a:pPr>
              <a:buNone/>
            </a:pPr>
            <a:r>
              <a:rPr lang="en-IN" sz="1400"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R. Patel &amp; K. Shah (2022)</a:t>
            </a:r>
            <a:r>
              <a:rPr lang="en-IN" sz="1400" dirty="0">
                <a:solidFill>
                  <a:schemeClr val="tx1"/>
                </a:solidFill>
                <a:latin typeface="Times New Roman" panose="02020603050405020304" pitchFamily="18" charset="0"/>
                <a:cs typeface="Times New Roman" panose="02020603050405020304" pitchFamily="18" charset="0"/>
              </a:rPr>
              <a:t> – Analysis of Complaint Handling and Escalation Mechanisms in Enterprise Systems</a:t>
            </a:r>
          </a:p>
          <a:p>
            <a:pPr>
              <a:buNone/>
            </a:pPr>
            <a:r>
              <a:rPr lang="en-IN" sz="1400"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J. Lee &amp; S. Kim (2023)</a:t>
            </a:r>
            <a:r>
              <a:rPr lang="en-IN" sz="1400" dirty="0">
                <a:solidFill>
                  <a:schemeClr val="tx1"/>
                </a:solidFill>
                <a:latin typeface="Times New Roman" panose="02020603050405020304" pitchFamily="18" charset="0"/>
                <a:cs typeface="Times New Roman" panose="02020603050405020304" pitchFamily="18" charset="0"/>
              </a:rPr>
              <a:t> – Workflow-Oriented Service Request Management Systems: A Survey</a:t>
            </a:r>
          </a:p>
          <a:p>
            <a:pPr marL="114300" indent="0">
              <a:buNone/>
            </a:pPr>
            <a:endParaRPr lang="en-US" sz="14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“The above literature was surveyed to identify recent system architectures, workflows, and escalation strategies. Detailed analysis was carried out for selected core references.”</a:t>
            </a:r>
          </a:p>
        </p:txBody>
      </p:sp>
      <p:sp>
        <p:nvSpPr>
          <p:cNvPr id="84" name="Google Shape;84;p16">
            <a:extLst>
              <a:ext uri="{FF2B5EF4-FFF2-40B4-BE49-F238E27FC236}">
                <a16:creationId xmlns:a16="http://schemas.microsoft.com/office/drawing/2014/main" id="{BF3536FB-B76D-0C58-2071-851FE4472012}"/>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a:t>
            </a:fld>
            <a:endParaRPr/>
          </a:p>
        </p:txBody>
      </p:sp>
    </p:spTree>
    <p:extLst>
      <p:ext uri="{BB962C8B-B14F-4D97-AF65-F5344CB8AC3E}">
        <p14:creationId xmlns:p14="http://schemas.microsoft.com/office/powerpoint/2010/main" val="2916868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17431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IN" b="1" dirty="0">
                <a:latin typeface="Times New Roman" panose="02020603050405020304" pitchFamily="18" charset="0"/>
                <a:cs typeface="Times New Roman" panose="02020603050405020304" pitchFamily="18" charset="0"/>
              </a:rPr>
              <a:t>EXISTING SYSTEM &amp; LIMITATIONS</a:t>
            </a:r>
            <a:endParaRPr b="1" dirty="0">
              <a:latin typeface="Times New Roman" panose="02020603050405020304" pitchFamily="18" charset="0"/>
              <a:cs typeface="Times New Roman" panose="02020603050405020304" pitchFamily="18" charset="0"/>
            </a:endParaRPr>
          </a:p>
        </p:txBody>
      </p:sp>
      <p:sp>
        <p:nvSpPr>
          <p:cNvPr id="97" name="Google Shape;97;p18"/>
          <p:cNvSpPr txBox="1">
            <a:spLocks noGrp="1"/>
          </p:cNvSpPr>
          <p:nvPr>
            <p:ph type="body" idx="1"/>
          </p:nvPr>
        </p:nvSpPr>
        <p:spPr>
          <a:xfrm>
            <a:off x="311700" y="747015"/>
            <a:ext cx="8520600" cy="4295417"/>
          </a:xfrm>
          <a:prstGeom prst="rect">
            <a:avLst/>
          </a:prstGeom>
          <a:noFill/>
          <a:ln>
            <a:noFill/>
          </a:ln>
        </p:spPr>
        <p:txBody>
          <a:bodyPr spcFirstLastPara="1" wrap="square" lIns="91425" tIns="91425" rIns="91425" bIns="91425" anchor="t" anchorCtr="0">
            <a:normAutofit/>
          </a:bodyPr>
          <a:lstStyle/>
          <a:p>
            <a:pPr marL="114300" indent="0">
              <a:buNone/>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Existing System</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Manual complaint registers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Email and phone-based communication</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Informal follow-ups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Basic online forms without tracking</a:t>
            </a:r>
          </a:p>
          <a:p>
            <a:endParaRPr lang="en-US" dirty="0">
              <a:solidFill>
                <a:schemeClr val="tx1">
                  <a:lumMod val="85000"/>
                  <a:lumOff val="15000"/>
                </a:schemeClr>
              </a:solidFill>
              <a:latin typeface="Times New Roman" panose="02020603050405020304" pitchFamily="18" charset="0"/>
              <a:cs typeface="Times New Roman" panose="02020603050405020304" pitchFamily="18" charset="0"/>
            </a:endParaRPr>
          </a:p>
          <a:p>
            <a:pPr marL="114300" indent="0">
              <a:buNone/>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Limitations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Complaints get lost or ignored</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No resolution timeline enforcement</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No escalation for delays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No accountability or analytics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High dependency on manual follow-ups</a:t>
            </a:r>
          </a:p>
        </p:txBody>
      </p:sp>
      <p:sp>
        <p:nvSpPr>
          <p:cNvPr id="98" name="Google Shape;9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8757EBB-74D8-6962-8896-EE4DF298B750}"/>
            </a:ext>
          </a:extLst>
        </p:cNvPr>
        <p:cNvGrpSpPr/>
        <p:nvPr/>
      </p:nvGrpSpPr>
      <p:grpSpPr>
        <a:xfrm>
          <a:off x="0" y="0"/>
          <a:ext cx="0" cy="0"/>
          <a:chOff x="0" y="0"/>
          <a:chExt cx="0" cy="0"/>
        </a:xfrm>
      </p:grpSpPr>
      <p:sp>
        <p:nvSpPr>
          <p:cNvPr id="96" name="Google Shape;96;p18">
            <a:extLst>
              <a:ext uri="{FF2B5EF4-FFF2-40B4-BE49-F238E27FC236}">
                <a16:creationId xmlns:a16="http://schemas.microsoft.com/office/drawing/2014/main" id="{D5993200-7453-185C-FAAA-6D90385CBB95}"/>
              </a:ext>
            </a:extLst>
          </p:cNvPr>
          <p:cNvSpPr txBox="1">
            <a:spLocks noGrp="1"/>
          </p:cNvSpPr>
          <p:nvPr>
            <p:ph type="title"/>
          </p:nvPr>
        </p:nvSpPr>
        <p:spPr>
          <a:xfrm>
            <a:off x="311700" y="17431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IN" b="1" dirty="0">
                <a:latin typeface="Times New Roman" panose="02020603050405020304" pitchFamily="18" charset="0"/>
                <a:cs typeface="Times New Roman" panose="02020603050405020304" pitchFamily="18" charset="0"/>
              </a:rPr>
              <a:t>PROPOSED SOLUTION</a:t>
            </a:r>
            <a:endParaRPr b="1" dirty="0">
              <a:latin typeface="Times New Roman" panose="02020603050405020304" pitchFamily="18" charset="0"/>
              <a:cs typeface="Times New Roman" panose="02020603050405020304" pitchFamily="18" charset="0"/>
            </a:endParaRPr>
          </a:p>
        </p:txBody>
      </p:sp>
      <p:sp>
        <p:nvSpPr>
          <p:cNvPr id="97" name="Google Shape;97;p18">
            <a:extLst>
              <a:ext uri="{FF2B5EF4-FFF2-40B4-BE49-F238E27FC236}">
                <a16:creationId xmlns:a16="http://schemas.microsoft.com/office/drawing/2014/main" id="{B34FE606-17AF-6186-4361-13403B36BB89}"/>
              </a:ext>
            </a:extLst>
          </p:cNvPr>
          <p:cNvSpPr txBox="1">
            <a:spLocks noGrp="1"/>
          </p:cNvSpPr>
          <p:nvPr>
            <p:ph type="body" idx="1"/>
          </p:nvPr>
        </p:nvSpPr>
        <p:spPr>
          <a:xfrm>
            <a:off x="311700" y="747015"/>
            <a:ext cx="8520600" cy="4295417"/>
          </a:xfrm>
          <a:prstGeom prst="rect">
            <a:avLst/>
          </a:prstGeom>
          <a:noFill/>
          <a:ln>
            <a:noFill/>
          </a:ln>
        </p:spPr>
        <p:txBody>
          <a:bodyPr spcFirstLastPara="1" wrap="square" lIns="91425" tIns="91425" rIns="91425" bIns="91425" anchor="t" anchorCtr="0">
            <a:normAutofit/>
          </a:bodyPr>
          <a:lstStyle/>
          <a:p>
            <a:pPr marL="114300" indent="0">
              <a:buNone/>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Proposed Solution</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A </a:t>
            </a: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Generic Complaint Resolution and Escalation System</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that:</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Digitally registers complaints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Tracks the complete complaint lifecycle</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Assigns complaints to responsible staff</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Defines resolution timelines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Automatically escalates delayed complaints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Provides monitoring dashboards for administrators</a:t>
            </a:r>
          </a:p>
          <a:p>
            <a:endParaRPr lang="en-US" dirty="0">
              <a:solidFill>
                <a:schemeClr val="tx1">
                  <a:lumMod val="85000"/>
                  <a:lumOff val="15000"/>
                </a:schemeClr>
              </a:solidFill>
              <a:latin typeface="Times New Roman" panose="02020603050405020304" pitchFamily="18" charset="0"/>
              <a:cs typeface="Times New Roman" panose="02020603050405020304" pitchFamily="18" charset="0"/>
            </a:endParaRPr>
          </a:p>
          <a:p>
            <a:pPr marL="114300" indent="0">
              <a:buNone/>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Feasibility</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Uses standard web technologies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No hardware dependency</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Scalable and reusable across domains</a:t>
            </a:r>
          </a:p>
        </p:txBody>
      </p:sp>
      <p:sp>
        <p:nvSpPr>
          <p:cNvPr id="98" name="Google Shape;98;p18">
            <a:extLst>
              <a:ext uri="{FF2B5EF4-FFF2-40B4-BE49-F238E27FC236}">
                <a16:creationId xmlns:a16="http://schemas.microsoft.com/office/drawing/2014/main" id="{9B095520-62F6-FE28-006A-7D4C9CB6985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6</a:t>
            </a:fld>
            <a:endParaRPr/>
          </a:p>
        </p:txBody>
      </p:sp>
    </p:spTree>
    <p:extLst>
      <p:ext uri="{BB962C8B-B14F-4D97-AF65-F5344CB8AC3E}">
        <p14:creationId xmlns:p14="http://schemas.microsoft.com/office/powerpoint/2010/main" val="350797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94F658C-DA55-8005-A3A2-CE54AF9B30D8}"/>
            </a:ext>
          </a:extLst>
        </p:cNvPr>
        <p:cNvGrpSpPr/>
        <p:nvPr/>
      </p:nvGrpSpPr>
      <p:grpSpPr>
        <a:xfrm>
          <a:off x="0" y="0"/>
          <a:ext cx="0" cy="0"/>
          <a:chOff x="0" y="0"/>
          <a:chExt cx="0" cy="0"/>
        </a:xfrm>
      </p:grpSpPr>
      <p:sp>
        <p:nvSpPr>
          <p:cNvPr id="96" name="Google Shape;96;p18">
            <a:extLst>
              <a:ext uri="{FF2B5EF4-FFF2-40B4-BE49-F238E27FC236}">
                <a16:creationId xmlns:a16="http://schemas.microsoft.com/office/drawing/2014/main" id="{AC6E6FCD-973D-B049-1345-835F1DFFD949}"/>
              </a:ext>
            </a:extLst>
          </p:cNvPr>
          <p:cNvSpPr txBox="1">
            <a:spLocks noGrp="1"/>
          </p:cNvSpPr>
          <p:nvPr>
            <p:ph type="title"/>
          </p:nvPr>
        </p:nvSpPr>
        <p:spPr>
          <a:xfrm>
            <a:off x="311700" y="17431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IN" b="1" dirty="0">
                <a:latin typeface="Times New Roman" panose="02020603050405020304" pitchFamily="18" charset="0"/>
                <a:cs typeface="Times New Roman" panose="02020603050405020304" pitchFamily="18" charset="0"/>
              </a:rPr>
              <a:t>USERS, ACTORS &amp; FUNCTIONAL SCOPE</a:t>
            </a:r>
            <a:endParaRPr b="1" dirty="0">
              <a:latin typeface="Times New Roman" panose="02020603050405020304" pitchFamily="18" charset="0"/>
              <a:cs typeface="Times New Roman" panose="02020603050405020304" pitchFamily="18" charset="0"/>
            </a:endParaRPr>
          </a:p>
        </p:txBody>
      </p:sp>
      <p:sp>
        <p:nvSpPr>
          <p:cNvPr id="97" name="Google Shape;97;p18">
            <a:extLst>
              <a:ext uri="{FF2B5EF4-FFF2-40B4-BE49-F238E27FC236}">
                <a16:creationId xmlns:a16="http://schemas.microsoft.com/office/drawing/2014/main" id="{83866BC1-DC1B-2E6D-42A8-F3EA5B9C3BD6}"/>
              </a:ext>
            </a:extLst>
          </p:cNvPr>
          <p:cNvSpPr txBox="1">
            <a:spLocks noGrp="1"/>
          </p:cNvSpPr>
          <p:nvPr>
            <p:ph type="body" idx="1"/>
          </p:nvPr>
        </p:nvSpPr>
        <p:spPr>
          <a:xfrm>
            <a:off x="311700" y="747015"/>
            <a:ext cx="4146000" cy="4295417"/>
          </a:xfrm>
          <a:prstGeom prst="rect">
            <a:avLst/>
          </a:prstGeom>
          <a:noFill/>
          <a:ln>
            <a:noFill/>
          </a:ln>
        </p:spPr>
        <p:txBody>
          <a:bodyPr spcFirstLastPara="1" wrap="square" lIns="91425" tIns="91425" rIns="91425" bIns="91425" anchor="t" anchorCtr="0">
            <a:normAutofit/>
          </a:bodyPr>
          <a:lstStyle/>
          <a:p>
            <a:pPr marL="114300" indent="0">
              <a:buNone/>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System Actors</a:t>
            </a:r>
          </a:p>
          <a:p>
            <a:pPr marL="114300" indent="0">
              <a:buNone/>
            </a:pPr>
            <a:endParaRPr lang="en-US" b="1" dirty="0">
              <a:solidFill>
                <a:schemeClr val="tx1">
                  <a:lumMod val="85000"/>
                  <a:lumOff val="15000"/>
                </a:schemeClr>
              </a:solidFill>
              <a:latin typeface="Times New Roman" panose="02020603050405020304" pitchFamily="18" charset="0"/>
              <a:cs typeface="Times New Roman" panose="02020603050405020304" pitchFamily="18" charset="0"/>
            </a:endParaRPr>
          </a:p>
          <a:p>
            <a:pPr marL="114300" indent="0">
              <a:buNone/>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User (Complaint):</a:t>
            </a:r>
            <a:endParaRPr lang="en-US" dirty="0">
              <a:solidFill>
                <a:schemeClr val="tx1">
                  <a:lumMod val="85000"/>
                  <a:lumOff val="15000"/>
                </a:schemeClr>
              </a:solidFill>
              <a:latin typeface="Times New Roman" panose="02020603050405020304" pitchFamily="18" charset="0"/>
              <a:cs typeface="Times New Roman" panose="02020603050405020304" pitchFamily="18" charset="0"/>
            </a:endParaRP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Raises complaints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Tracks complaint status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Provides feedback</a:t>
            </a:r>
          </a:p>
          <a:p>
            <a:endParaRPr lang="en-US" dirty="0">
              <a:solidFill>
                <a:schemeClr val="tx1">
                  <a:lumMod val="85000"/>
                  <a:lumOff val="15000"/>
                </a:schemeClr>
              </a:solidFill>
              <a:latin typeface="Times New Roman" panose="02020603050405020304" pitchFamily="18" charset="0"/>
              <a:cs typeface="Times New Roman" panose="02020603050405020304" pitchFamily="18" charset="0"/>
            </a:endParaRPr>
          </a:p>
          <a:p>
            <a:pPr marL="114300" indent="0">
              <a:buNone/>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Staff (Resolver):</a:t>
            </a:r>
            <a:endParaRPr lang="en-US" dirty="0">
              <a:solidFill>
                <a:schemeClr val="tx1">
                  <a:lumMod val="85000"/>
                  <a:lumOff val="15000"/>
                </a:schemeClr>
              </a:solidFill>
              <a:latin typeface="Times New Roman" panose="02020603050405020304" pitchFamily="18" charset="0"/>
              <a:cs typeface="Times New Roman" panose="02020603050405020304" pitchFamily="18" charset="0"/>
            </a:endParaRP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Views assigned complaints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Updates status</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Resolves issues</a:t>
            </a:r>
          </a:p>
        </p:txBody>
      </p:sp>
      <p:sp>
        <p:nvSpPr>
          <p:cNvPr id="98" name="Google Shape;98;p18">
            <a:extLst>
              <a:ext uri="{FF2B5EF4-FFF2-40B4-BE49-F238E27FC236}">
                <a16:creationId xmlns:a16="http://schemas.microsoft.com/office/drawing/2014/main" id="{82D59539-CC1A-DA25-6AC6-AF427F0CA06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7</a:t>
            </a:fld>
            <a:endParaRPr/>
          </a:p>
        </p:txBody>
      </p:sp>
      <p:sp>
        <p:nvSpPr>
          <p:cNvPr id="2" name="Google Shape;97;p18">
            <a:extLst>
              <a:ext uri="{FF2B5EF4-FFF2-40B4-BE49-F238E27FC236}">
                <a16:creationId xmlns:a16="http://schemas.microsoft.com/office/drawing/2014/main" id="{2690F8FE-418C-4F87-C018-24222032DC59}"/>
              </a:ext>
            </a:extLst>
          </p:cNvPr>
          <p:cNvSpPr txBox="1">
            <a:spLocks/>
          </p:cNvSpPr>
          <p:nvPr/>
        </p:nvSpPr>
        <p:spPr>
          <a:xfrm>
            <a:off x="4600808" y="747014"/>
            <a:ext cx="4146000" cy="429541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IN" b="1" dirty="0">
                <a:solidFill>
                  <a:schemeClr val="tx1">
                    <a:lumMod val="85000"/>
                    <a:lumOff val="15000"/>
                  </a:schemeClr>
                </a:solidFill>
                <a:latin typeface="Times New Roman" panose="02020603050405020304" pitchFamily="18" charset="0"/>
                <a:cs typeface="Times New Roman" panose="02020603050405020304" pitchFamily="18" charset="0"/>
              </a:rPr>
              <a:t>Admin (Supervisor):</a:t>
            </a: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r>
              <a:rPr lang="en-IN" dirty="0">
                <a:solidFill>
                  <a:schemeClr val="tx1">
                    <a:lumMod val="85000"/>
                    <a:lumOff val="15000"/>
                  </a:schemeClr>
                </a:solidFill>
                <a:latin typeface="Times New Roman" panose="02020603050405020304" pitchFamily="18" charset="0"/>
                <a:cs typeface="Times New Roman" panose="02020603050405020304" pitchFamily="18" charset="0"/>
              </a:rPr>
              <a:t>Assigns complaints</a:t>
            </a:r>
          </a:p>
          <a:p>
            <a:r>
              <a:rPr lang="en-IN" dirty="0">
                <a:solidFill>
                  <a:schemeClr val="tx1">
                    <a:lumMod val="85000"/>
                    <a:lumOff val="15000"/>
                  </a:schemeClr>
                </a:solidFill>
                <a:latin typeface="Times New Roman" panose="02020603050405020304" pitchFamily="18" charset="0"/>
                <a:cs typeface="Times New Roman" panose="02020603050405020304" pitchFamily="18" charset="0"/>
              </a:rPr>
              <a:t>Sets resolution timelines</a:t>
            </a:r>
          </a:p>
          <a:p>
            <a:r>
              <a:rPr lang="en-IN" dirty="0">
                <a:solidFill>
                  <a:schemeClr val="tx1">
                    <a:lumMod val="85000"/>
                    <a:lumOff val="15000"/>
                  </a:schemeClr>
                </a:solidFill>
                <a:latin typeface="Times New Roman" panose="02020603050405020304" pitchFamily="18" charset="0"/>
                <a:cs typeface="Times New Roman" panose="02020603050405020304" pitchFamily="18" charset="0"/>
              </a:rPr>
              <a:t>Handles escalations</a:t>
            </a:r>
          </a:p>
          <a:p>
            <a:r>
              <a:rPr lang="en-IN" dirty="0">
                <a:solidFill>
                  <a:schemeClr val="tx1">
                    <a:lumMod val="85000"/>
                    <a:lumOff val="15000"/>
                  </a:schemeClr>
                </a:solidFill>
                <a:latin typeface="Times New Roman" panose="02020603050405020304" pitchFamily="18" charset="0"/>
                <a:cs typeface="Times New Roman" panose="02020603050405020304" pitchFamily="18" charset="0"/>
              </a:rPr>
              <a:t>Monitors system performance</a:t>
            </a:r>
          </a:p>
          <a:p>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pPr marL="114300" indent="0">
              <a:buNone/>
            </a:pPr>
            <a:r>
              <a:rPr lang="en-IN" b="1" dirty="0">
                <a:solidFill>
                  <a:schemeClr val="tx1">
                    <a:lumMod val="85000"/>
                    <a:lumOff val="15000"/>
                  </a:schemeClr>
                </a:solidFill>
                <a:latin typeface="Times New Roman" panose="02020603050405020304" pitchFamily="18" charset="0"/>
                <a:cs typeface="Times New Roman" panose="02020603050405020304" pitchFamily="18" charset="0"/>
              </a:rPr>
              <a:t>Functional Scope</a:t>
            </a:r>
          </a:p>
          <a:p>
            <a:r>
              <a:rPr lang="en-IN" dirty="0">
                <a:solidFill>
                  <a:schemeClr val="tx1">
                    <a:lumMod val="85000"/>
                    <a:lumOff val="15000"/>
                  </a:schemeClr>
                </a:solidFill>
                <a:latin typeface="Times New Roman" panose="02020603050405020304" pitchFamily="18" charset="0"/>
                <a:cs typeface="Times New Roman" panose="02020603050405020304" pitchFamily="18" charset="0"/>
              </a:rPr>
              <a:t>Complaint registration</a:t>
            </a:r>
          </a:p>
          <a:p>
            <a:r>
              <a:rPr lang="en-IN" dirty="0">
                <a:solidFill>
                  <a:schemeClr val="tx1">
                    <a:lumMod val="85000"/>
                    <a:lumOff val="15000"/>
                  </a:schemeClr>
                </a:solidFill>
                <a:latin typeface="Times New Roman" panose="02020603050405020304" pitchFamily="18" charset="0"/>
                <a:cs typeface="Times New Roman" panose="02020603050405020304" pitchFamily="18" charset="0"/>
              </a:rPr>
              <a:t>Status tracking</a:t>
            </a:r>
          </a:p>
          <a:p>
            <a:r>
              <a:rPr lang="en-IN" dirty="0">
                <a:solidFill>
                  <a:schemeClr val="tx1">
                    <a:lumMod val="85000"/>
                    <a:lumOff val="15000"/>
                  </a:schemeClr>
                </a:solidFill>
                <a:latin typeface="Times New Roman" panose="02020603050405020304" pitchFamily="18" charset="0"/>
                <a:cs typeface="Times New Roman" panose="02020603050405020304" pitchFamily="18" charset="0"/>
              </a:rPr>
              <a:t>Escalation handling</a:t>
            </a:r>
          </a:p>
          <a:p>
            <a:r>
              <a:rPr lang="en-IN" dirty="0">
                <a:solidFill>
                  <a:schemeClr val="tx1">
                    <a:lumMod val="85000"/>
                    <a:lumOff val="15000"/>
                  </a:schemeClr>
                </a:solidFill>
                <a:latin typeface="Times New Roman" panose="02020603050405020304" pitchFamily="18" charset="0"/>
                <a:cs typeface="Times New Roman" panose="02020603050405020304" pitchFamily="18" charset="0"/>
              </a:rPr>
              <a:t>Role-based access control</a:t>
            </a:r>
          </a:p>
        </p:txBody>
      </p:sp>
      <p:cxnSp>
        <p:nvCxnSpPr>
          <p:cNvPr id="4" name="Straight Connector 3">
            <a:extLst>
              <a:ext uri="{FF2B5EF4-FFF2-40B4-BE49-F238E27FC236}">
                <a16:creationId xmlns:a16="http://schemas.microsoft.com/office/drawing/2014/main" id="{A75231FB-B107-4D22-DD9B-C6A87CFF3639}"/>
              </a:ext>
            </a:extLst>
          </p:cNvPr>
          <p:cNvCxnSpPr>
            <a:cxnSpLocks/>
          </p:cNvCxnSpPr>
          <p:nvPr/>
        </p:nvCxnSpPr>
        <p:spPr>
          <a:xfrm flipH="1">
            <a:off x="4457700" y="848226"/>
            <a:ext cx="21521" cy="3814991"/>
          </a:xfrm>
          <a:prstGeom prst="line">
            <a:avLst/>
          </a:prstGeom>
          <a:ln>
            <a:headEnd type="diamond" w="med" len="med"/>
            <a:tailEnd type="diamond"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51277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50B308C-78DB-B22F-6488-5C593505413B}"/>
            </a:ext>
          </a:extLst>
        </p:cNvPr>
        <p:cNvGrpSpPr/>
        <p:nvPr/>
      </p:nvGrpSpPr>
      <p:grpSpPr>
        <a:xfrm>
          <a:off x="0" y="0"/>
          <a:ext cx="0" cy="0"/>
          <a:chOff x="0" y="0"/>
          <a:chExt cx="0" cy="0"/>
        </a:xfrm>
      </p:grpSpPr>
      <p:sp>
        <p:nvSpPr>
          <p:cNvPr id="96" name="Google Shape;96;p18">
            <a:extLst>
              <a:ext uri="{FF2B5EF4-FFF2-40B4-BE49-F238E27FC236}">
                <a16:creationId xmlns:a16="http://schemas.microsoft.com/office/drawing/2014/main" id="{98197BD6-2EA2-A1ED-17C6-79B6F8F14525}"/>
              </a:ext>
            </a:extLst>
          </p:cNvPr>
          <p:cNvSpPr txBox="1">
            <a:spLocks noGrp="1"/>
          </p:cNvSpPr>
          <p:nvPr>
            <p:ph type="title"/>
          </p:nvPr>
        </p:nvSpPr>
        <p:spPr>
          <a:xfrm>
            <a:off x="311700" y="17431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US" b="1" dirty="0">
                <a:latin typeface="Times New Roman" panose="02020603050405020304" pitchFamily="18" charset="0"/>
                <a:cs typeface="Times New Roman" panose="02020603050405020304" pitchFamily="18" charset="0"/>
              </a:rPr>
              <a:t>Sustainable Development Goals (SDG) Mapping</a:t>
            </a:r>
            <a:endParaRPr b="1" dirty="0">
              <a:latin typeface="Times New Roman" panose="02020603050405020304" pitchFamily="18" charset="0"/>
              <a:cs typeface="Times New Roman" panose="02020603050405020304" pitchFamily="18" charset="0"/>
            </a:endParaRPr>
          </a:p>
        </p:txBody>
      </p:sp>
      <p:sp>
        <p:nvSpPr>
          <p:cNvPr id="97" name="Google Shape;97;p18">
            <a:extLst>
              <a:ext uri="{FF2B5EF4-FFF2-40B4-BE49-F238E27FC236}">
                <a16:creationId xmlns:a16="http://schemas.microsoft.com/office/drawing/2014/main" id="{4F5040AD-1FFF-B71C-198B-4C90F3EF166C}"/>
              </a:ext>
            </a:extLst>
          </p:cNvPr>
          <p:cNvSpPr txBox="1">
            <a:spLocks noGrp="1"/>
          </p:cNvSpPr>
          <p:nvPr>
            <p:ph type="body" idx="1"/>
          </p:nvPr>
        </p:nvSpPr>
        <p:spPr>
          <a:xfrm>
            <a:off x="873887" y="2878754"/>
            <a:ext cx="2981466" cy="2177878"/>
          </a:xfrm>
          <a:prstGeom prst="rect">
            <a:avLst/>
          </a:prstGeom>
          <a:noFill/>
          <a:ln>
            <a:noFill/>
          </a:ln>
        </p:spPr>
        <p:txBody>
          <a:bodyPr spcFirstLastPara="1" wrap="square" lIns="91425" tIns="91425" rIns="91425" bIns="91425" anchor="t" anchorCtr="0">
            <a:normAutofit fontScale="85000" lnSpcReduction="10000"/>
          </a:bodyPr>
          <a:lstStyle/>
          <a:p>
            <a:pPr marL="114300" indent="0" algn="ctr">
              <a:buNone/>
            </a:pPr>
            <a:r>
              <a:rPr lang="en-US" b="1" dirty="0">
                <a:latin typeface="Times New Roman" panose="02020603050405020304" pitchFamily="18" charset="0"/>
                <a:cs typeface="Times New Roman" panose="02020603050405020304" pitchFamily="18" charset="0"/>
              </a:rPr>
              <a:t>SDG 16 – Peace, Justice and Strong Institutions </a:t>
            </a:r>
          </a:p>
          <a:p>
            <a:pPr algn="ctr"/>
            <a:r>
              <a:rPr lang="en-US" sz="1700" dirty="0">
                <a:latin typeface="Times New Roman" panose="02020603050405020304" pitchFamily="18" charset="0"/>
                <a:cs typeface="Times New Roman" panose="02020603050405020304" pitchFamily="18" charset="0"/>
              </a:rPr>
              <a:t>Promotes transparent and accountable complaint handling</a:t>
            </a:r>
          </a:p>
          <a:p>
            <a:pPr algn="ctr"/>
            <a:r>
              <a:rPr lang="en-US" sz="1700" dirty="0">
                <a:latin typeface="Times New Roman" panose="02020603050405020304" pitchFamily="18" charset="0"/>
                <a:cs typeface="Times New Roman" panose="02020603050405020304" pitchFamily="18" charset="0"/>
              </a:rPr>
              <a:t>Ensures timely resolution and responsibility tracking</a:t>
            </a:r>
          </a:p>
          <a:p>
            <a:pPr algn="ctr"/>
            <a:r>
              <a:rPr lang="en-US" sz="1700" dirty="0">
                <a:latin typeface="Times New Roman" panose="02020603050405020304" pitchFamily="18" charset="0"/>
                <a:cs typeface="Times New Roman" panose="02020603050405020304" pitchFamily="18" charset="0"/>
              </a:rPr>
              <a:t>Strengthens organizational governance and trust</a:t>
            </a:r>
          </a:p>
        </p:txBody>
      </p:sp>
      <p:sp>
        <p:nvSpPr>
          <p:cNvPr id="98" name="Google Shape;98;p18">
            <a:extLst>
              <a:ext uri="{FF2B5EF4-FFF2-40B4-BE49-F238E27FC236}">
                <a16:creationId xmlns:a16="http://schemas.microsoft.com/office/drawing/2014/main" id="{DA1F8037-665B-C05F-F88E-16A868E8A587}"/>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8</a:t>
            </a:fld>
            <a:endParaRPr/>
          </a:p>
        </p:txBody>
      </p:sp>
      <p:pic>
        <p:nvPicPr>
          <p:cNvPr id="5" name="Picture 4">
            <a:extLst>
              <a:ext uri="{FF2B5EF4-FFF2-40B4-BE49-F238E27FC236}">
                <a16:creationId xmlns:a16="http://schemas.microsoft.com/office/drawing/2014/main" id="{498FC3FD-1D14-5681-F04F-554F98C70E17}"/>
              </a:ext>
            </a:extLst>
          </p:cNvPr>
          <p:cNvPicPr>
            <a:picLocks noChangeAspect="1"/>
          </p:cNvPicPr>
          <p:nvPr/>
        </p:nvPicPr>
        <p:blipFill>
          <a:blip r:embed="rId3"/>
          <a:stretch>
            <a:fillRect/>
          </a:stretch>
        </p:blipFill>
        <p:spPr>
          <a:xfrm>
            <a:off x="1525751" y="894012"/>
            <a:ext cx="1677738" cy="1677738"/>
          </a:xfrm>
          <a:prstGeom prst="rect">
            <a:avLst/>
          </a:prstGeom>
        </p:spPr>
      </p:pic>
      <p:pic>
        <p:nvPicPr>
          <p:cNvPr id="1028" name="Picture 4">
            <a:extLst>
              <a:ext uri="{FF2B5EF4-FFF2-40B4-BE49-F238E27FC236}">
                <a16:creationId xmlns:a16="http://schemas.microsoft.com/office/drawing/2014/main" id="{949BAA22-6E1E-F8A4-1D90-DEF66B8D23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5498" y="894012"/>
            <a:ext cx="1677738" cy="1677738"/>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97;p18">
            <a:extLst>
              <a:ext uri="{FF2B5EF4-FFF2-40B4-BE49-F238E27FC236}">
                <a16:creationId xmlns:a16="http://schemas.microsoft.com/office/drawing/2014/main" id="{2E760975-FEE8-0107-0666-12098CFCF361}"/>
              </a:ext>
            </a:extLst>
          </p:cNvPr>
          <p:cNvSpPr txBox="1">
            <a:spLocks/>
          </p:cNvSpPr>
          <p:nvPr/>
        </p:nvSpPr>
        <p:spPr>
          <a:xfrm>
            <a:off x="5033634" y="2878754"/>
            <a:ext cx="2981466" cy="217787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lgn="ctr">
              <a:buNone/>
            </a:pPr>
            <a:r>
              <a:rPr lang="en-US" sz="1500" b="1" dirty="0">
                <a:latin typeface="Times New Roman" panose="02020603050405020304" pitchFamily="18" charset="0"/>
                <a:cs typeface="Times New Roman" panose="02020603050405020304" pitchFamily="18" charset="0"/>
              </a:rPr>
              <a:t>SDG 9 – Industry, Innovation and Infrastructure</a:t>
            </a:r>
          </a:p>
          <a:p>
            <a:pPr algn="ctr"/>
            <a:r>
              <a:rPr lang="en-US" sz="1400" dirty="0">
                <a:latin typeface="Times New Roman" panose="02020603050405020304" pitchFamily="18" charset="0"/>
                <a:cs typeface="Times New Roman" panose="02020603050405020304" pitchFamily="18" charset="0"/>
              </a:rPr>
              <a:t>Encourages digital transformation of service processes</a:t>
            </a:r>
          </a:p>
          <a:p>
            <a:pPr algn="ctr"/>
            <a:r>
              <a:rPr lang="en-US" sz="1400" dirty="0">
                <a:latin typeface="Times New Roman" panose="02020603050405020304" pitchFamily="18" charset="0"/>
                <a:cs typeface="Times New Roman" panose="02020603050405020304" pitchFamily="18" charset="0"/>
              </a:rPr>
              <a:t>Improves efficiency through automated workflows</a:t>
            </a:r>
          </a:p>
        </p:txBody>
      </p:sp>
    </p:spTree>
    <p:extLst>
      <p:ext uri="{BB962C8B-B14F-4D97-AF65-F5344CB8AC3E}">
        <p14:creationId xmlns:p14="http://schemas.microsoft.com/office/powerpoint/2010/main" val="217604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A3BD39D-15DD-C312-5552-59134A513660}"/>
            </a:ext>
          </a:extLst>
        </p:cNvPr>
        <p:cNvGrpSpPr/>
        <p:nvPr/>
      </p:nvGrpSpPr>
      <p:grpSpPr>
        <a:xfrm>
          <a:off x="0" y="0"/>
          <a:ext cx="0" cy="0"/>
          <a:chOff x="0" y="0"/>
          <a:chExt cx="0" cy="0"/>
        </a:xfrm>
      </p:grpSpPr>
      <p:sp>
        <p:nvSpPr>
          <p:cNvPr id="96" name="Google Shape;96;p18">
            <a:extLst>
              <a:ext uri="{FF2B5EF4-FFF2-40B4-BE49-F238E27FC236}">
                <a16:creationId xmlns:a16="http://schemas.microsoft.com/office/drawing/2014/main" id="{21D75E4B-0873-579E-3482-9BB4D6C43005}"/>
              </a:ext>
            </a:extLst>
          </p:cNvPr>
          <p:cNvSpPr txBox="1">
            <a:spLocks noGrp="1"/>
          </p:cNvSpPr>
          <p:nvPr>
            <p:ph type="title"/>
          </p:nvPr>
        </p:nvSpPr>
        <p:spPr>
          <a:xfrm>
            <a:off x="311700" y="17431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IN" b="1" dirty="0">
                <a:latin typeface="Times New Roman" panose="02020603050405020304" pitchFamily="18" charset="0"/>
                <a:cs typeface="Times New Roman" panose="02020603050405020304" pitchFamily="18" charset="0"/>
              </a:rPr>
              <a:t>CONCEPTUAL ARCHITECTURE DIAGRAM</a:t>
            </a:r>
            <a:endParaRPr b="1" dirty="0">
              <a:latin typeface="Times New Roman" panose="02020603050405020304" pitchFamily="18" charset="0"/>
              <a:cs typeface="Times New Roman" panose="02020603050405020304" pitchFamily="18" charset="0"/>
            </a:endParaRPr>
          </a:p>
        </p:txBody>
      </p:sp>
      <p:sp>
        <p:nvSpPr>
          <p:cNvPr id="98" name="Google Shape;98;p18">
            <a:extLst>
              <a:ext uri="{FF2B5EF4-FFF2-40B4-BE49-F238E27FC236}">
                <a16:creationId xmlns:a16="http://schemas.microsoft.com/office/drawing/2014/main" id="{8C18EF05-618A-908E-B633-44DC8EB124E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sp>
        <p:nvSpPr>
          <p:cNvPr id="8" name="TextBox 7">
            <a:extLst>
              <a:ext uri="{FF2B5EF4-FFF2-40B4-BE49-F238E27FC236}">
                <a16:creationId xmlns:a16="http://schemas.microsoft.com/office/drawing/2014/main" id="{C6D8D5FF-8A06-EC8D-2577-9836ADD726A7}"/>
              </a:ext>
            </a:extLst>
          </p:cNvPr>
          <p:cNvSpPr txBox="1"/>
          <p:nvPr/>
        </p:nvSpPr>
        <p:spPr>
          <a:xfrm>
            <a:off x="6087979" y="1016985"/>
            <a:ext cx="2845468" cy="2893100"/>
          </a:xfrm>
          <a:prstGeom prst="rect">
            <a:avLst/>
          </a:prstGeom>
          <a:noFill/>
        </p:spPr>
        <p:txBody>
          <a:bodyPr wrap="square" rtlCol="0">
            <a:spAutoFit/>
          </a:bodyPr>
          <a:lstStyle/>
          <a:p>
            <a:pPr>
              <a:lnSpc>
                <a:spcPct val="150000"/>
              </a:lnSpc>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Explanation</a:t>
            </a:r>
          </a:p>
          <a:p>
            <a:pPr marL="285750" indent="-285750">
              <a:lnSpc>
                <a:spcPct val="150000"/>
              </a:lnSpc>
              <a:buFont typeface="Arial" panose="020B0604020202020204" pitchFamily="34" charset="0"/>
              <a:buChar cha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Frontend handles user interaction</a:t>
            </a:r>
          </a:p>
          <a:p>
            <a:pPr marL="285750" indent="-285750">
              <a:lnSpc>
                <a:spcPct val="150000"/>
              </a:lnSpc>
              <a:buFont typeface="Arial" panose="020B0604020202020204" pitchFamily="34" charset="0"/>
              <a:buChar cha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Backend processes complaint logic and escalation rules</a:t>
            </a:r>
          </a:p>
          <a:p>
            <a:pPr marL="285750" indent="-285750">
              <a:lnSpc>
                <a:spcPct val="150000"/>
              </a:lnSpc>
              <a:buFont typeface="Arial" panose="020B0604020202020204" pitchFamily="34" charset="0"/>
              <a:buChar cha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MongoDB stores complaint lifecycle data</a:t>
            </a:r>
          </a:p>
          <a:p>
            <a:pPr marL="285750" indent="-285750">
              <a:lnSpc>
                <a:spcPct val="150000"/>
              </a:lnSpc>
              <a:buFont typeface="Arial" panose="020B0604020202020204" pitchFamily="34" charset="0"/>
              <a:buChar cha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Escalation ensures accountability and timely resolution</a:t>
            </a:r>
          </a:p>
          <a:p>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BF8056C-65D5-81DD-6CE8-10F76B351197}"/>
              </a:ext>
            </a:extLst>
          </p:cNvPr>
          <p:cNvPicPr>
            <a:picLocks noChangeAspect="1"/>
          </p:cNvPicPr>
          <p:nvPr/>
        </p:nvPicPr>
        <p:blipFill>
          <a:blip r:embed="rId3"/>
          <a:stretch>
            <a:fillRect/>
          </a:stretch>
        </p:blipFill>
        <p:spPr>
          <a:xfrm>
            <a:off x="53742" y="660332"/>
            <a:ext cx="6004560" cy="4396485"/>
          </a:xfrm>
          <a:prstGeom prst="rect">
            <a:avLst/>
          </a:prstGeom>
        </p:spPr>
      </p:pic>
    </p:spTree>
    <p:extLst>
      <p:ext uri="{BB962C8B-B14F-4D97-AF65-F5344CB8AC3E}">
        <p14:creationId xmlns:p14="http://schemas.microsoft.com/office/powerpoint/2010/main" val="265915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B892187-EA7A-A1FB-72B9-3DE49F52C6B1}"/>
            </a:ext>
          </a:extLst>
        </p:cNvPr>
        <p:cNvGrpSpPr/>
        <p:nvPr/>
      </p:nvGrpSpPr>
      <p:grpSpPr>
        <a:xfrm>
          <a:off x="0" y="0"/>
          <a:ext cx="0" cy="0"/>
          <a:chOff x="0" y="0"/>
          <a:chExt cx="0" cy="0"/>
        </a:xfrm>
      </p:grpSpPr>
      <p:sp>
        <p:nvSpPr>
          <p:cNvPr id="96" name="Google Shape;96;p18">
            <a:extLst>
              <a:ext uri="{FF2B5EF4-FFF2-40B4-BE49-F238E27FC236}">
                <a16:creationId xmlns:a16="http://schemas.microsoft.com/office/drawing/2014/main" id="{C939E553-ECF7-BEBB-7E63-5EC539C41281}"/>
              </a:ext>
            </a:extLst>
          </p:cNvPr>
          <p:cNvSpPr txBox="1">
            <a:spLocks noGrp="1"/>
          </p:cNvSpPr>
          <p:nvPr>
            <p:ph type="title"/>
          </p:nvPr>
        </p:nvSpPr>
        <p:spPr>
          <a:xfrm>
            <a:off x="311700" y="17431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IN" b="1" dirty="0">
                <a:latin typeface="Times New Roman" panose="02020603050405020304" pitchFamily="18" charset="0"/>
                <a:cs typeface="Times New Roman" panose="02020603050405020304" pitchFamily="18" charset="0"/>
              </a:rPr>
              <a:t>TOOLS &amp; TECHNOLOGIES</a:t>
            </a:r>
            <a:endParaRPr b="1" dirty="0">
              <a:latin typeface="Times New Roman" panose="02020603050405020304" pitchFamily="18" charset="0"/>
              <a:cs typeface="Times New Roman" panose="02020603050405020304" pitchFamily="18" charset="0"/>
            </a:endParaRPr>
          </a:p>
        </p:txBody>
      </p:sp>
      <p:sp>
        <p:nvSpPr>
          <p:cNvPr id="97" name="Google Shape;97;p18">
            <a:extLst>
              <a:ext uri="{FF2B5EF4-FFF2-40B4-BE49-F238E27FC236}">
                <a16:creationId xmlns:a16="http://schemas.microsoft.com/office/drawing/2014/main" id="{1500227F-FC22-498E-AECC-54E069DB0CC8}"/>
              </a:ext>
            </a:extLst>
          </p:cNvPr>
          <p:cNvSpPr txBox="1">
            <a:spLocks noGrp="1"/>
          </p:cNvSpPr>
          <p:nvPr>
            <p:ph type="body" idx="1"/>
          </p:nvPr>
        </p:nvSpPr>
        <p:spPr>
          <a:xfrm>
            <a:off x="311700" y="747015"/>
            <a:ext cx="8520600" cy="4295417"/>
          </a:xfrm>
          <a:prstGeom prst="rect">
            <a:avLst/>
          </a:prstGeom>
          <a:noFill/>
          <a:ln>
            <a:noFill/>
          </a:ln>
        </p:spPr>
        <p:txBody>
          <a:bodyPr spcFirstLastPara="1" wrap="square" lIns="91425" tIns="91425" rIns="91425" bIns="91425" anchor="t" anchorCtr="0">
            <a:normAutofit fontScale="92500" lnSpcReduction="20000"/>
          </a:bodyPr>
          <a:lstStyle/>
          <a:p>
            <a:pPr marL="114300" indent="0">
              <a:lnSpc>
                <a:spcPct val="150000"/>
              </a:lnSpc>
              <a:buNone/>
            </a:pPr>
            <a:r>
              <a:rPr lang="en-IN" b="1" dirty="0">
                <a:solidFill>
                  <a:schemeClr val="tx1">
                    <a:lumMod val="85000"/>
                    <a:lumOff val="15000"/>
                  </a:schemeClr>
                </a:solidFill>
                <a:latin typeface="Times New Roman" panose="02020603050405020304" pitchFamily="18" charset="0"/>
                <a:cs typeface="Times New Roman" panose="02020603050405020304" pitchFamily="18" charset="0"/>
              </a:rPr>
              <a:t>Frontend</a:t>
            </a:r>
          </a:p>
          <a:p>
            <a:pPr>
              <a:lnSpc>
                <a:spcPct val="150000"/>
              </a:lnSpc>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React.js</a:t>
            </a:r>
          </a:p>
          <a:p>
            <a:pPr>
              <a:lnSpc>
                <a:spcPct val="150000"/>
              </a:lnSpc>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HTML, CSS, JavaScript</a:t>
            </a:r>
          </a:p>
          <a:p>
            <a:pPr marL="114300" indent="0">
              <a:lnSpc>
                <a:spcPct val="150000"/>
              </a:lnSpc>
              <a:buNone/>
            </a:pPr>
            <a:r>
              <a:rPr lang="en-IN" b="1" dirty="0">
                <a:solidFill>
                  <a:schemeClr val="tx1">
                    <a:lumMod val="85000"/>
                    <a:lumOff val="15000"/>
                  </a:schemeClr>
                </a:solidFill>
                <a:latin typeface="Times New Roman" panose="02020603050405020304" pitchFamily="18" charset="0"/>
                <a:cs typeface="Times New Roman" panose="02020603050405020304" pitchFamily="18" charset="0"/>
              </a:rPr>
              <a:t>Backend</a:t>
            </a:r>
          </a:p>
          <a:p>
            <a:pPr>
              <a:lnSpc>
                <a:spcPct val="150000"/>
              </a:lnSpc>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Node.js</a:t>
            </a:r>
          </a:p>
          <a:p>
            <a:pPr>
              <a:lnSpc>
                <a:spcPct val="150000"/>
              </a:lnSpc>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Express.js</a:t>
            </a:r>
          </a:p>
          <a:p>
            <a:pPr marL="114300" indent="0">
              <a:lnSpc>
                <a:spcPct val="150000"/>
              </a:lnSpc>
              <a:buNone/>
            </a:pPr>
            <a:r>
              <a:rPr lang="en-IN" b="1" dirty="0">
                <a:solidFill>
                  <a:schemeClr val="tx1">
                    <a:lumMod val="85000"/>
                    <a:lumOff val="15000"/>
                  </a:schemeClr>
                </a:solidFill>
                <a:latin typeface="Times New Roman" panose="02020603050405020304" pitchFamily="18" charset="0"/>
                <a:cs typeface="Times New Roman" panose="02020603050405020304" pitchFamily="18" charset="0"/>
              </a:rPr>
              <a:t>Database</a:t>
            </a:r>
          </a:p>
          <a:p>
            <a:pPr>
              <a:lnSpc>
                <a:spcPct val="150000"/>
              </a:lnSpc>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MongoDB</a:t>
            </a:r>
          </a:p>
          <a:p>
            <a:pPr marL="114300" indent="0">
              <a:lnSpc>
                <a:spcPct val="150000"/>
              </a:lnSpc>
              <a:buNone/>
            </a:pPr>
            <a:r>
              <a:rPr lang="en-IN" b="1" dirty="0">
                <a:solidFill>
                  <a:schemeClr val="tx1">
                    <a:lumMod val="85000"/>
                    <a:lumOff val="15000"/>
                  </a:schemeClr>
                </a:solidFill>
                <a:latin typeface="Times New Roman" panose="02020603050405020304" pitchFamily="18" charset="0"/>
                <a:cs typeface="Times New Roman" panose="02020603050405020304" pitchFamily="18" charset="0"/>
              </a:rPr>
              <a:t>Other Tools</a:t>
            </a:r>
          </a:p>
          <a:p>
            <a:pPr>
              <a:lnSpc>
                <a:spcPct val="150000"/>
              </a:lnSpc>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JWT Authentication</a:t>
            </a:r>
          </a:p>
          <a:p>
            <a:pPr>
              <a:lnSpc>
                <a:spcPct val="150000"/>
              </a:lnSpc>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REST APIs</a:t>
            </a:r>
          </a:p>
          <a:p>
            <a:pPr>
              <a:lnSpc>
                <a:spcPct val="150000"/>
              </a:lnSpc>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Git for version control</a:t>
            </a:r>
          </a:p>
        </p:txBody>
      </p:sp>
      <p:sp>
        <p:nvSpPr>
          <p:cNvPr id="98" name="Google Shape;98;p18">
            <a:extLst>
              <a:ext uri="{FF2B5EF4-FFF2-40B4-BE49-F238E27FC236}">
                <a16:creationId xmlns:a16="http://schemas.microsoft.com/office/drawing/2014/main" id="{3DA2FE9D-86CD-9FE4-8916-1F0329FBCB8A}"/>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10</a:t>
            </a:fld>
            <a:endParaRPr/>
          </a:p>
        </p:txBody>
      </p:sp>
    </p:spTree>
    <p:extLst>
      <p:ext uri="{BB962C8B-B14F-4D97-AF65-F5344CB8AC3E}">
        <p14:creationId xmlns:p14="http://schemas.microsoft.com/office/powerpoint/2010/main" val="1058932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A3A96FE-7BB0-D657-015B-B26609329C13}"/>
            </a:ext>
          </a:extLst>
        </p:cNvPr>
        <p:cNvGrpSpPr/>
        <p:nvPr/>
      </p:nvGrpSpPr>
      <p:grpSpPr>
        <a:xfrm>
          <a:off x="0" y="0"/>
          <a:ext cx="0" cy="0"/>
          <a:chOff x="0" y="0"/>
          <a:chExt cx="0" cy="0"/>
        </a:xfrm>
      </p:grpSpPr>
      <p:sp>
        <p:nvSpPr>
          <p:cNvPr id="96" name="Google Shape;96;p18">
            <a:extLst>
              <a:ext uri="{FF2B5EF4-FFF2-40B4-BE49-F238E27FC236}">
                <a16:creationId xmlns:a16="http://schemas.microsoft.com/office/drawing/2014/main" id="{B528BCEF-4A53-CBA2-D7C3-EDCC9875C514}"/>
              </a:ext>
            </a:extLst>
          </p:cNvPr>
          <p:cNvSpPr txBox="1">
            <a:spLocks noGrp="1"/>
          </p:cNvSpPr>
          <p:nvPr>
            <p:ph type="title"/>
          </p:nvPr>
        </p:nvSpPr>
        <p:spPr>
          <a:xfrm>
            <a:off x="311700" y="17431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IN" b="1" dirty="0">
                <a:latin typeface="Times New Roman" panose="02020603050405020304" pitchFamily="18" charset="0"/>
                <a:cs typeface="Times New Roman" panose="02020603050405020304" pitchFamily="18" charset="0"/>
              </a:rPr>
              <a:t>PROJECT PLANNING &amp; MILESTONES</a:t>
            </a:r>
            <a:endParaRPr b="1" dirty="0">
              <a:latin typeface="Times New Roman" panose="02020603050405020304" pitchFamily="18" charset="0"/>
              <a:cs typeface="Times New Roman" panose="02020603050405020304" pitchFamily="18" charset="0"/>
            </a:endParaRPr>
          </a:p>
        </p:txBody>
      </p:sp>
      <p:sp>
        <p:nvSpPr>
          <p:cNvPr id="98" name="Google Shape;98;p18">
            <a:extLst>
              <a:ext uri="{FF2B5EF4-FFF2-40B4-BE49-F238E27FC236}">
                <a16:creationId xmlns:a16="http://schemas.microsoft.com/office/drawing/2014/main" id="{F46EF2D5-B3BE-E90E-EE27-18715736FC5D}"/>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11</a:t>
            </a:fld>
            <a:endParaRPr/>
          </a:p>
        </p:txBody>
      </p:sp>
      <p:graphicFrame>
        <p:nvGraphicFramePr>
          <p:cNvPr id="3" name="Table 2">
            <a:extLst>
              <a:ext uri="{FF2B5EF4-FFF2-40B4-BE49-F238E27FC236}">
                <a16:creationId xmlns:a16="http://schemas.microsoft.com/office/drawing/2014/main" id="{5C5A43B3-7D35-2BE0-936A-0D947B5606EC}"/>
              </a:ext>
            </a:extLst>
          </p:cNvPr>
          <p:cNvGraphicFramePr>
            <a:graphicFrameLocks noGrp="1"/>
          </p:cNvGraphicFramePr>
          <p:nvPr>
            <p:extLst>
              <p:ext uri="{D42A27DB-BD31-4B8C-83A1-F6EECF244321}">
                <p14:modId xmlns:p14="http://schemas.microsoft.com/office/powerpoint/2010/main" val="2565011332"/>
              </p:ext>
            </p:extLst>
          </p:nvPr>
        </p:nvGraphicFramePr>
        <p:xfrm>
          <a:off x="400672" y="917910"/>
          <a:ext cx="8274096" cy="3745309"/>
        </p:xfrm>
        <a:graphic>
          <a:graphicData uri="http://schemas.openxmlformats.org/drawingml/2006/table">
            <a:tbl>
              <a:tblPr/>
              <a:tblGrid>
                <a:gridCol w="2758032">
                  <a:extLst>
                    <a:ext uri="{9D8B030D-6E8A-4147-A177-3AD203B41FA5}">
                      <a16:colId xmlns:a16="http://schemas.microsoft.com/office/drawing/2014/main" val="2330668433"/>
                    </a:ext>
                  </a:extLst>
                </a:gridCol>
                <a:gridCol w="2758032">
                  <a:extLst>
                    <a:ext uri="{9D8B030D-6E8A-4147-A177-3AD203B41FA5}">
                      <a16:colId xmlns:a16="http://schemas.microsoft.com/office/drawing/2014/main" val="749738775"/>
                    </a:ext>
                  </a:extLst>
                </a:gridCol>
                <a:gridCol w="2758032">
                  <a:extLst>
                    <a:ext uri="{9D8B030D-6E8A-4147-A177-3AD203B41FA5}">
                      <a16:colId xmlns:a16="http://schemas.microsoft.com/office/drawing/2014/main" val="2429204982"/>
                    </a:ext>
                  </a:extLst>
                </a:gridCol>
              </a:tblGrid>
              <a:tr h="290333">
                <a:tc>
                  <a:txBody>
                    <a:bodyPr/>
                    <a:lstStyle/>
                    <a:p>
                      <a:pPr>
                        <a:buNone/>
                      </a:pPr>
                      <a:r>
                        <a:rPr lang="en-IN" sz="1200" b="1" dirty="0"/>
                        <a:t>Phase</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dirty="0"/>
                        <a:t>Duration</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dirty="0"/>
                        <a:t>Activities</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8744180"/>
                  </a:ext>
                </a:extLst>
              </a:tr>
              <a:tr h="493568">
                <a:tc>
                  <a:txBody>
                    <a:bodyPr/>
                    <a:lstStyle/>
                    <a:p>
                      <a:pPr>
                        <a:buNone/>
                      </a:pPr>
                      <a:r>
                        <a:rPr lang="en-IN" sz="1200" b="1" dirty="0"/>
                        <a:t>Phase 1</a:t>
                      </a:r>
                      <a:endParaRPr lang="en-IN" sz="1200" dirty="0"/>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Weeks 1–2</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Problem identification, literature survey, system analysis</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9103084"/>
                  </a:ext>
                </a:extLst>
              </a:tr>
              <a:tr h="493568">
                <a:tc>
                  <a:txBody>
                    <a:bodyPr/>
                    <a:lstStyle/>
                    <a:p>
                      <a:pPr>
                        <a:buNone/>
                      </a:pPr>
                      <a:r>
                        <a:rPr lang="en-IN" sz="1200" b="1"/>
                        <a:t>Phase 2</a:t>
                      </a:r>
                      <a:endParaRPr lang="en-IN" sz="1200"/>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Weeks 3–4</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Requirement analysis &amp; use case identification</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013249"/>
                  </a:ext>
                </a:extLst>
              </a:tr>
              <a:tr h="493568">
                <a:tc>
                  <a:txBody>
                    <a:bodyPr/>
                    <a:lstStyle/>
                    <a:p>
                      <a:pPr>
                        <a:buNone/>
                      </a:pPr>
                      <a:r>
                        <a:rPr lang="en-IN" sz="1200" b="1"/>
                        <a:t>Phase 3</a:t>
                      </a:r>
                      <a:endParaRPr lang="en-IN" sz="1200"/>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Weeks 5–6</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System architecture design &amp; database schema design</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4346840"/>
                  </a:ext>
                </a:extLst>
              </a:tr>
              <a:tr h="493568">
                <a:tc>
                  <a:txBody>
                    <a:bodyPr/>
                    <a:lstStyle/>
                    <a:p>
                      <a:pPr>
                        <a:buNone/>
                      </a:pPr>
                      <a:r>
                        <a:rPr lang="en-IN" sz="1200" b="1"/>
                        <a:t>Phase 4</a:t>
                      </a:r>
                      <a:endParaRPr lang="en-IN" sz="1200"/>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Weeks 7–8</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Backend development (APIs, complaint logic, escalation rules)</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9609057"/>
                  </a:ext>
                </a:extLst>
              </a:tr>
              <a:tr h="493568">
                <a:tc>
                  <a:txBody>
                    <a:bodyPr/>
                    <a:lstStyle/>
                    <a:p>
                      <a:pPr>
                        <a:buNone/>
                      </a:pPr>
                      <a:r>
                        <a:rPr lang="en-IN" sz="1200" b="1"/>
                        <a:t>Phase 5</a:t>
                      </a:r>
                      <a:endParaRPr lang="en-IN" sz="1200"/>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Weeks 9–10</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Frontend development (UI for User, Staff, Admin)</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8004788"/>
                  </a:ext>
                </a:extLst>
              </a:tr>
              <a:tr h="493568">
                <a:tc>
                  <a:txBody>
                    <a:bodyPr/>
                    <a:lstStyle/>
                    <a:p>
                      <a:pPr>
                        <a:buNone/>
                      </a:pPr>
                      <a:r>
                        <a:rPr lang="en-IN" sz="1200" b="1"/>
                        <a:t>Phase 6</a:t>
                      </a:r>
                      <a:endParaRPr lang="en-IN" sz="1200"/>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Week 11</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Integration, testing, and bug fixing</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1814936"/>
                  </a:ext>
                </a:extLst>
              </a:tr>
              <a:tr h="493568">
                <a:tc>
                  <a:txBody>
                    <a:bodyPr/>
                    <a:lstStyle/>
                    <a:p>
                      <a:pPr>
                        <a:buNone/>
                      </a:pPr>
                      <a:r>
                        <a:rPr lang="en-IN" sz="1200" b="1"/>
                        <a:t>Phase 7</a:t>
                      </a:r>
                      <a:endParaRPr lang="en-IN" sz="1200"/>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Week 12</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Deployment, documentation, and final review preparation</a:t>
                      </a:r>
                    </a:p>
                  </a:txBody>
                  <a:tcPr marL="79449" marR="79449" marT="39724" marB="39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8440843"/>
                  </a:ext>
                </a:extLst>
              </a:tr>
            </a:tbl>
          </a:graphicData>
        </a:graphic>
      </p:graphicFrame>
    </p:spTree>
    <p:extLst>
      <p:ext uri="{BB962C8B-B14F-4D97-AF65-F5344CB8AC3E}">
        <p14:creationId xmlns:p14="http://schemas.microsoft.com/office/powerpoint/2010/main" val="3165782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6CD164D0-16AD-222A-0459-AC5605664902}"/>
            </a:ext>
          </a:extLst>
        </p:cNvPr>
        <p:cNvGrpSpPr/>
        <p:nvPr/>
      </p:nvGrpSpPr>
      <p:grpSpPr>
        <a:xfrm>
          <a:off x="0" y="0"/>
          <a:ext cx="0" cy="0"/>
          <a:chOff x="0" y="0"/>
          <a:chExt cx="0" cy="0"/>
        </a:xfrm>
      </p:grpSpPr>
      <p:sp>
        <p:nvSpPr>
          <p:cNvPr id="131" name="Google Shape;131;p23">
            <a:extLst>
              <a:ext uri="{FF2B5EF4-FFF2-40B4-BE49-F238E27FC236}">
                <a16:creationId xmlns:a16="http://schemas.microsoft.com/office/drawing/2014/main" id="{E24B3BFF-02E3-23EE-4133-7DBF44DD14BE}"/>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IN" b="1" dirty="0">
                <a:latin typeface="Times New Roman" panose="02020603050405020304" pitchFamily="18" charset="0"/>
                <a:cs typeface="Times New Roman" panose="02020603050405020304" pitchFamily="18" charset="0"/>
              </a:rPr>
              <a:t>CONCLUSION</a:t>
            </a:r>
            <a:endParaRPr b="1" dirty="0">
              <a:latin typeface="Times New Roman" panose="02020603050405020304" pitchFamily="18" charset="0"/>
              <a:cs typeface="Times New Roman" panose="02020603050405020304" pitchFamily="18" charset="0"/>
            </a:endParaRPr>
          </a:p>
        </p:txBody>
      </p:sp>
      <p:sp>
        <p:nvSpPr>
          <p:cNvPr id="133" name="Google Shape;133;p23">
            <a:extLst>
              <a:ext uri="{FF2B5EF4-FFF2-40B4-BE49-F238E27FC236}">
                <a16:creationId xmlns:a16="http://schemas.microsoft.com/office/drawing/2014/main" id="{9CD7D789-375B-BF76-9F3D-19B68339D6C0}"/>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12</a:t>
            </a:fld>
            <a:endParaRPr/>
          </a:p>
        </p:txBody>
      </p:sp>
      <p:sp>
        <p:nvSpPr>
          <p:cNvPr id="9" name="Rectangle 5">
            <a:extLst>
              <a:ext uri="{FF2B5EF4-FFF2-40B4-BE49-F238E27FC236}">
                <a16:creationId xmlns:a16="http://schemas.microsoft.com/office/drawing/2014/main" id="{EEFF707A-5581-01E0-37C1-5238549F4D8E}"/>
              </a:ext>
            </a:extLst>
          </p:cNvPr>
          <p:cNvSpPr>
            <a:spLocks noChangeArrowheads="1"/>
          </p:cNvSpPr>
          <p:nvPr/>
        </p:nvSpPr>
        <p:spPr bwMode="auto">
          <a:xfrm>
            <a:off x="684679" y="1080703"/>
            <a:ext cx="8520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sz="1600" dirty="0"/>
              <a:t>This project proposes a </a:t>
            </a:r>
            <a:r>
              <a:rPr lang="en-US" sz="1600" b="1" dirty="0"/>
              <a:t>generic, reusable, full-stack complaint resolution and escalation system</a:t>
            </a:r>
            <a:r>
              <a:rPr lang="en-US" sz="1600" dirty="0"/>
              <a:t>, aligned with real-world organizational needs and the mini capstone course objectives.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157828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604</TotalTime>
  <Words>953</Words>
  <Application>Microsoft Office PowerPoint</Application>
  <PresentationFormat>On-screen Show (16:9)</PresentationFormat>
  <Paragraphs>156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Times New Roman</vt:lpstr>
      <vt:lpstr>Simple Light</vt:lpstr>
      <vt:lpstr>PowerPoint Presentation</vt:lpstr>
      <vt:lpstr>PROBLEM DEFINITION &amp; MOTIVATION</vt:lpstr>
      <vt:lpstr>LITERATURE SURVEY &amp; SYSTEM ANALYSIS</vt:lpstr>
      <vt:lpstr>LITERATURE SURVEY &amp; SYSTEM ANALYSIS</vt:lpstr>
      <vt:lpstr>EXISTING SYSTEM &amp; LIMITATIONS</vt:lpstr>
      <vt:lpstr>PROPOSED SOLUTION</vt:lpstr>
      <vt:lpstr>USERS, ACTORS &amp; FUNCTIONAL SCOPE</vt:lpstr>
      <vt:lpstr>Sustainable Development Goals (SDG) Mapping</vt:lpstr>
      <vt:lpstr>CONCEPTUAL ARCHITECTURE DIAGRAM</vt:lpstr>
      <vt:lpstr>TOOLS &amp; TECHNOLOGIES</vt:lpstr>
      <vt:lpstr>PROJECT PLANNING &amp; MILESTONES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subikshan m</cp:lastModifiedBy>
  <cp:revision>30</cp:revision>
  <dcterms:modified xsi:type="dcterms:W3CDTF">2026-01-03T09:11:44Z</dcterms:modified>
</cp:coreProperties>
</file>